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x="18288000" cy="10287000"/>
  <p:notesSz cx="6858000" cy="9144000"/>
  <p:embeddedFontLst>
    <p:embeddedFont>
      <p:font typeface="Cakerolli Bold" charset="1" panose="00000000000000000000"/>
      <p:regular r:id="rId55"/>
    </p:embeddedFont>
    <p:embeddedFont>
      <p:font typeface="Cakerolli Ultra-Bold" charset="1" panose="00000000000000000000"/>
      <p:regular r:id="rId56"/>
    </p:embeddedFont>
    <p:embeddedFont>
      <p:font typeface="Cakerolli" charset="1" panose="00000000000000000000"/>
      <p:regular r:id="rId57"/>
    </p:embeddedFont>
    <p:embeddedFont>
      <p:font typeface="Cakerolli Semi-Bold" charset="1" panose="0000000000000000000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2.png" Type="http://schemas.openxmlformats.org/officeDocument/2006/relationships/image"/><Relationship Id="rId23" Target="../media/image23.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24.png" Type="http://schemas.openxmlformats.org/officeDocument/2006/relationships/image"/><Relationship Id="rId15" Target="../media/image25.sv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png" Type="http://schemas.openxmlformats.org/officeDocument/2006/relationships/image"/><Relationship Id="rId19" Target="../media/image2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16" Target="../media/image32.png" Type="http://schemas.openxmlformats.org/officeDocument/2006/relationships/image"/><Relationship Id="rId17" Target="../media/image3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34.png" Type="http://schemas.openxmlformats.org/officeDocument/2006/relationships/image"/><Relationship Id="rId15" Target="../media/image3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36.png" Type="http://schemas.openxmlformats.org/officeDocument/2006/relationships/image"/><Relationship Id="rId15" Target="../media/image37.svg" Type="http://schemas.openxmlformats.org/officeDocument/2006/relationships/image"/><Relationship Id="rId16" Target="../media/image38.png" Type="http://schemas.openxmlformats.org/officeDocument/2006/relationships/image"/><Relationship Id="rId17" Target="../media/image3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0.png" Type="http://schemas.openxmlformats.org/officeDocument/2006/relationships/image"/><Relationship Id="rId15" Target="../media/image41.svg" Type="http://schemas.openxmlformats.org/officeDocument/2006/relationships/image"/><Relationship Id="rId16" Target="../media/image42.png" Type="http://schemas.openxmlformats.org/officeDocument/2006/relationships/image"/><Relationship Id="rId17" Target="../media/image4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16" Target="../media/image32.png" Type="http://schemas.openxmlformats.org/officeDocument/2006/relationships/image"/><Relationship Id="rId17" Target="../media/image3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4.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5.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7.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8.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49.jpeg" Type="http://schemas.openxmlformats.org/officeDocument/2006/relationships/image"/><Relationship Id="rId15" Target="../media/image26.png" Type="http://schemas.openxmlformats.org/officeDocument/2006/relationships/image"/><Relationship Id="rId16" Target="../media/image27.svg" Type="http://schemas.openxmlformats.org/officeDocument/2006/relationships/image"/><Relationship Id="rId17" Target="../media/image50.png" Type="http://schemas.openxmlformats.org/officeDocument/2006/relationships/image"/><Relationship Id="rId18" Target="../media/image5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52.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5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54.png" Type="http://schemas.openxmlformats.org/officeDocument/2006/relationships/image"/><Relationship Id="rId15" Target="../media/image5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56.png" Type="http://schemas.openxmlformats.org/officeDocument/2006/relationships/image"/><Relationship Id="rId15" Target="../media/image5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5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5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60.png" Type="http://schemas.openxmlformats.org/officeDocument/2006/relationships/image"/><Relationship Id="rId15" Target="../media/image61.svg" Type="http://schemas.openxmlformats.org/officeDocument/2006/relationships/image"/><Relationship Id="rId16" Target="../media/image62.png" Type="http://schemas.openxmlformats.org/officeDocument/2006/relationships/image"/><Relationship Id="rId17" Target="../media/image6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6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6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6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6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6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6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7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7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7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7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7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16" Target="../media/image32.png" Type="http://schemas.openxmlformats.org/officeDocument/2006/relationships/image"/><Relationship Id="rId17" Target="../media/image3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7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7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77.png" Type="http://schemas.openxmlformats.org/officeDocument/2006/relationships/image"/><Relationship Id="rId15" Target="../media/image7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7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8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media/image81.png" Type="http://schemas.openxmlformats.org/officeDocument/2006/relationships/image"/><Relationship Id="rId17" Target="../media/image8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7.png" Type="http://schemas.openxmlformats.org/officeDocument/2006/relationships/image"/><Relationship Id="rId15" Target="../media/image8.svg" Type="http://schemas.openxmlformats.org/officeDocument/2006/relationships/image"/><Relationship Id="rId16" Target="../media/image9.png" Type="http://schemas.openxmlformats.org/officeDocument/2006/relationships/image"/><Relationship Id="rId17" Target="../media/image10.svg" Type="http://schemas.openxmlformats.org/officeDocument/2006/relationships/image"/><Relationship Id="rId18" Target="../media/image87.png" Type="http://schemas.openxmlformats.org/officeDocument/2006/relationships/image"/><Relationship Id="rId19" Target="../media/image88.svg" Type="http://schemas.openxmlformats.org/officeDocument/2006/relationships/image"/><Relationship Id="rId2" Target="../media/image1.png" Type="http://schemas.openxmlformats.org/officeDocument/2006/relationships/image"/><Relationship Id="rId20" Target="../media/image89.png" Type="http://schemas.openxmlformats.org/officeDocument/2006/relationships/image"/><Relationship Id="rId21" Target="../media/image90.svg" Type="http://schemas.openxmlformats.org/officeDocument/2006/relationships/image"/><Relationship Id="rId22" Target="../media/image91.png" Type="http://schemas.openxmlformats.org/officeDocument/2006/relationships/image"/><Relationship Id="rId23" Target="../media/image92.svg" Type="http://schemas.openxmlformats.org/officeDocument/2006/relationships/image"/><Relationship Id="rId24" Target="../media/image93.png" Type="http://schemas.openxmlformats.org/officeDocument/2006/relationships/image"/><Relationship Id="rId25" Target="../media/image94.svg" Type="http://schemas.openxmlformats.org/officeDocument/2006/relationships/image"/><Relationship Id="rId26" Target="../media/image95.png" Type="http://schemas.openxmlformats.org/officeDocument/2006/relationships/image"/><Relationship Id="rId27" Target="../media/image96.svg" Type="http://schemas.openxmlformats.org/officeDocument/2006/relationships/image"/><Relationship Id="rId28" Target="../media/image97.png" Type="http://schemas.openxmlformats.org/officeDocument/2006/relationships/image"/><Relationship Id="rId29" Target="../media/image98.svg" Type="http://schemas.openxmlformats.org/officeDocument/2006/relationships/image"/><Relationship Id="rId3" Target="../media/image2.svg" Type="http://schemas.openxmlformats.org/officeDocument/2006/relationships/image"/><Relationship Id="rId30" Target="../media/image99.png" Type="http://schemas.openxmlformats.org/officeDocument/2006/relationships/image"/><Relationship Id="rId31" Target="../media/image100.svg" Type="http://schemas.openxmlformats.org/officeDocument/2006/relationships/image"/><Relationship Id="rId32" Target="../media/image101.png" Type="http://schemas.openxmlformats.org/officeDocument/2006/relationships/image"/><Relationship Id="rId33" Target="../media/image102.svg" Type="http://schemas.openxmlformats.org/officeDocument/2006/relationships/image"/><Relationship Id="rId4" Target="../media/image83.png" Type="http://schemas.openxmlformats.org/officeDocument/2006/relationships/image"/><Relationship Id="rId5" Target="../media/image84.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85.png" Type="http://schemas.openxmlformats.org/officeDocument/2006/relationships/image"/><Relationship Id="rId9" Target="../media/image8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0" id="30"/>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1" id="31"/>
          <p:cNvSpPr/>
          <p:nvPr/>
        </p:nvSpPr>
        <p:spPr>
          <a:xfrm flipH="false" flipV="false" rot="-2473926">
            <a:off x="16489660" y="3493500"/>
            <a:ext cx="2325515" cy="598820"/>
          </a:xfrm>
          <a:custGeom>
            <a:avLst/>
            <a:gdLst/>
            <a:ahLst/>
            <a:cxnLst/>
            <a:rect r="r" b="b" t="t" l="l"/>
            <a:pathLst>
              <a:path h="598820" w="2325515">
                <a:moveTo>
                  <a:pt x="0" y="0"/>
                </a:moveTo>
                <a:lnTo>
                  <a:pt x="2325516" y="0"/>
                </a:lnTo>
                <a:lnTo>
                  <a:pt x="2325516" y="598820"/>
                </a:lnTo>
                <a:lnTo>
                  <a:pt x="0" y="598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323603">
            <a:off x="16241593" y="7121058"/>
            <a:ext cx="1132716" cy="2093553"/>
          </a:xfrm>
          <a:custGeom>
            <a:avLst/>
            <a:gdLst/>
            <a:ahLst/>
            <a:cxnLst/>
            <a:rect r="r" b="b" t="t" l="l"/>
            <a:pathLst>
              <a:path h="2093553" w="1132716">
                <a:moveTo>
                  <a:pt x="0" y="0"/>
                </a:moveTo>
                <a:lnTo>
                  <a:pt x="1132716" y="0"/>
                </a:lnTo>
                <a:lnTo>
                  <a:pt x="1132716" y="2093553"/>
                </a:lnTo>
                <a:lnTo>
                  <a:pt x="0" y="2093553"/>
                </a:lnTo>
                <a:lnTo>
                  <a:pt x="0" y="0"/>
                </a:lnTo>
                <a:close/>
              </a:path>
            </a:pathLst>
          </a:custGeom>
          <a:blipFill>
            <a:blip r:embed="rId8">
              <a:extLst>
                <a:ext uri="{96DAC541-7B7A-43D3-8B79-37D633B846F1}">
                  <asvg:svgBlip xmlns:asvg="http://schemas.microsoft.com/office/drawing/2016/SVG/main" r:embed="rId9"/>
                </a:ext>
              </a:extLst>
            </a:blip>
            <a:stretch>
              <a:fillRect l="-130590" t="0" r="0" b="-48746"/>
            </a:stretch>
          </a:blipFill>
        </p:spPr>
      </p:sp>
      <p:sp>
        <p:nvSpPr>
          <p:cNvPr name="Freeform 33" id="33"/>
          <p:cNvSpPr/>
          <p:nvPr/>
        </p:nvSpPr>
        <p:spPr>
          <a:xfrm flipH="false" flipV="false" rot="323603">
            <a:off x="17692802" y="5966897"/>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8">
              <a:extLst>
                <a:ext uri="{96DAC541-7B7A-43D3-8B79-37D633B846F1}">
                  <asvg:svgBlip xmlns:asvg="http://schemas.microsoft.com/office/drawing/2016/SVG/main" r:embed="rId9"/>
                </a:ext>
              </a:extLst>
            </a:blip>
            <a:stretch>
              <a:fillRect l="-127975" t="-28590" r="-17420" b="-104172"/>
            </a:stretch>
          </a:blipFill>
        </p:spPr>
      </p:sp>
      <p:sp>
        <p:nvSpPr>
          <p:cNvPr name="Freeform 34" id="34"/>
          <p:cNvSpPr/>
          <p:nvPr/>
        </p:nvSpPr>
        <p:spPr>
          <a:xfrm flipH="true" flipV="false" rot="-873099">
            <a:off x="-4988" y="4159379"/>
            <a:ext cx="1428017" cy="1622746"/>
          </a:xfrm>
          <a:custGeom>
            <a:avLst/>
            <a:gdLst/>
            <a:ahLst/>
            <a:cxnLst/>
            <a:rect r="r" b="b" t="t" l="l"/>
            <a:pathLst>
              <a:path h="1622746" w="1428017">
                <a:moveTo>
                  <a:pt x="1428017" y="0"/>
                </a:moveTo>
                <a:lnTo>
                  <a:pt x="0" y="0"/>
                </a:lnTo>
                <a:lnTo>
                  <a:pt x="0" y="1622746"/>
                </a:lnTo>
                <a:lnTo>
                  <a:pt x="1428017" y="1622746"/>
                </a:lnTo>
                <a:lnTo>
                  <a:pt x="1428017"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35" id="35"/>
          <p:cNvGrpSpPr/>
          <p:nvPr/>
        </p:nvGrpSpPr>
        <p:grpSpPr>
          <a:xfrm rot="0">
            <a:off x="6724987" y="7400121"/>
            <a:ext cx="9420724" cy="1535427"/>
            <a:chOff x="0" y="0"/>
            <a:chExt cx="2481178" cy="404392"/>
          </a:xfrm>
        </p:grpSpPr>
        <p:sp>
          <p:nvSpPr>
            <p:cNvPr name="Freeform 36" id="36"/>
            <p:cNvSpPr/>
            <p:nvPr/>
          </p:nvSpPr>
          <p:spPr>
            <a:xfrm flipH="false" flipV="false" rot="0">
              <a:off x="0" y="0"/>
              <a:ext cx="2481178" cy="404392"/>
            </a:xfrm>
            <a:custGeom>
              <a:avLst/>
              <a:gdLst/>
              <a:ahLst/>
              <a:cxnLst/>
              <a:rect r="r" b="b" t="t" l="l"/>
              <a:pathLst>
                <a:path h="404392" w="2481178">
                  <a:moveTo>
                    <a:pt x="0" y="0"/>
                  </a:moveTo>
                  <a:lnTo>
                    <a:pt x="2481178" y="0"/>
                  </a:lnTo>
                  <a:lnTo>
                    <a:pt x="2481178" y="404392"/>
                  </a:lnTo>
                  <a:lnTo>
                    <a:pt x="0" y="404392"/>
                  </a:lnTo>
                  <a:close/>
                </a:path>
              </a:pathLst>
            </a:custGeom>
            <a:solidFill>
              <a:srgbClr val="000000">
                <a:alpha val="0"/>
              </a:srgbClr>
            </a:solidFill>
          </p:spPr>
        </p:sp>
        <p:sp>
          <p:nvSpPr>
            <p:cNvPr name="TextBox 37" id="37"/>
            <p:cNvSpPr txBox="true"/>
            <p:nvPr/>
          </p:nvSpPr>
          <p:spPr>
            <a:xfrm>
              <a:off x="0" y="-323850"/>
              <a:ext cx="2481178" cy="728242"/>
            </a:xfrm>
            <a:prstGeom prst="rect">
              <a:avLst/>
            </a:prstGeom>
          </p:spPr>
          <p:txBody>
            <a:bodyPr anchor="ctr" rtlCol="false" tIns="50800" lIns="50800" bIns="50800" rIns="50800"/>
            <a:lstStyle/>
            <a:p>
              <a:pPr algn="ctr">
                <a:lnSpc>
                  <a:spcPts val="4759"/>
                </a:lnSpc>
              </a:pPr>
              <a:r>
                <a:rPr lang="en-US" sz="3399" b="true">
                  <a:solidFill>
                    <a:srgbClr val="202020"/>
                  </a:solidFill>
                  <a:latin typeface="Cakerolli Bold"/>
                  <a:ea typeface="Cakerolli Bold"/>
                  <a:cs typeface="Cakerolli Bold"/>
                  <a:sym typeface="Cakerolli Bold"/>
                </a:rPr>
                <a:t>Giảng viên hướng dẫn: ThS. Trần Thị Huệ</a:t>
              </a:r>
            </a:p>
            <a:p>
              <a:pPr algn="ctr">
                <a:lnSpc>
                  <a:spcPts val="4759"/>
                </a:lnSpc>
                <a:spcBef>
                  <a:spcPct val="0"/>
                </a:spcBef>
              </a:pPr>
            </a:p>
          </p:txBody>
        </p:sp>
      </p:grpSp>
      <p:grpSp>
        <p:nvGrpSpPr>
          <p:cNvPr name="Group 38" id="38"/>
          <p:cNvGrpSpPr/>
          <p:nvPr/>
        </p:nvGrpSpPr>
        <p:grpSpPr>
          <a:xfrm rot="0">
            <a:off x="2955679" y="4963201"/>
            <a:ext cx="11126613" cy="1927855"/>
            <a:chOff x="0" y="0"/>
            <a:chExt cx="2930466" cy="507748"/>
          </a:xfrm>
        </p:grpSpPr>
        <p:sp>
          <p:nvSpPr>
            <p:cNvPr name="Freeform 39" id="39"/>
            <p:cNvSpPr/>
            <p:nvPr/>
          </p:nvSpPr>
          <p:spPr>
            <a:xfrm flipH="false" flipV="false" rot="0">
              <a:off x="0" y="0"/>
              <a:ext cx="2930466" cy="507748"/>
            </a:xfrm>
            <a:custGeom>
              <a:avLst/>
              <a:gdLst/>
              <a:ahLst/>
              <a:cxnLst/>
              <a:rect r="r" b="b" t="t" l="l"/>
              <a:pathLst>
                <a:path h="507748" w="2930466">
                  <a:moveTo>
                    <a:pt x="0" y="0"/>
                  </a:moveTo>
                  <a:lnTo>
                    <a:pt x="2930466" y="0"/>
                  </a:lnTo>
                  <a:lnTo>
                    <a:pt x="2930466" y="507748"/>
                  </a:lnTo>
                  <a:lnTo>
                    <a:pt x="0" y="507748"/>
                  </a:lnTo>
                  <a:close/>
                </a:path>
              </a:pathLst>
            </a:custGeom>
            <a:solidFill>
              <a:srgbClr val="000000">
                <a:alpha val="0"/>
              </a:srgbClr>
            </a:solidFill>
            <a:ln cap="sq">
              <a:noFill/>
              <a:prstDash val="solid"/>
              <a:miter/>
            </a:ln>
          </p:spPr>
        </p:sp>
        <p:sp>
          <p:nvSpPr>
            <p:cNvPr name="TextBox 40" id="40"/>
            <p:cNvSpPr txBox="true"/>
            <p:nvPr/>
          </p:nvSpPr>
          <p:spPr>
            <a:xfrm>
              <a:off x="0" y="-466725"/>
              <a:ext cx="2930466" cy="974473"/>
            </a:xfrm>
            <a:prstGeom prst="rect">
              <a:avLst/>
            </a:prstGeom>
          </p:spPr>
          <p:txBody>
            <a:bodyPr anchor="ctr" rtlCol="false" tIns="50800" lIns="50800" bIns="50800" rIns="50800"/>
            <a:lstStyle/>
            <a:p>
              <a:pPr algn="ctr">
                <a:lnSpc>
                  <a:spcPts val="6859"/>
                </a:lnSpc>
              </a:pPr>
              <a:r>
                <a:rPr lang="en-US" sz="4899" b="true">
                  <a:solidFill>
                    <a:srgbClr val="202020"/>
                  </a:solidFill>
                  <a:latin typeface="Cakerolli Bold"/>
                  <a:ea typeface="Cakerolli Bold"/>
                  <a:cs typeface="Cakerolli Bold"/>
                  <a:sym typeface="Cakerolli Bold"/>
                </a:rPr>
                <a:t>ĐỀ TÀI: ỨNG DỤNG QUẢN LÝ NHÀ HÀNG</a:t>
              </a:r>
            </a:p>
            <a:p>
              <a:pPr algn="ctr">
                <a:lnSpc>
                  <a:spcPts val="5179"/>
                </a:lnSpc>
                <a:spcBef>
                  <a:spcPct val="0"/>
                </a:spcBef>
              </a:pPr>
            </a:p>
          </p:txBody>
        </p:sp>
      </p:grpSp>
      <p:sp>
        <p:nvSpPr>
          <p:cNvPr name="TextBox 41" id="41"/>
          <p:cNvSpPr txBox="true"/>
          <p:nvPr/>
        </p:nvSpPr>
        <p:spPr>
          <a:xfrm rot="0">
            <a:off x="421784" y="-351879"/>
            <a:ext cx="17866216" cy="4357889"/>
          </a:xfrm>
          <a:prstGeom prst="rect">
            <a:avLst/>
          </a:prstGeom>
        </p:spPr>
        <p:txBody>
          <a:bodyPr anchor="t" rtlCol="false" tIns="0" lIns="0" bIns="0" rIns="0">
            <a:spAutoFit/>
          </a:bodyPr>
          <a:lstStyle/>
          <a:p>
            <a:pPr algn="ctr">
              <a:lnSpc>
                <a:spcPts val="8091"/>
              </a:lnSpc>
            </a:pPr>
            <a:r>
              <a:rPr lang="en-US" sz="5779" b="true">
                <a:solidFill>
                  <a:srgbClr val="000000"/>
                </a:solidFill>
                <a:latin typeface="Cakerolli Bold"/>
                <a:ea typeface="Cakerolli Bold"/>
                <a:cs typeface="Cakerolli Bold"/>
                <a:sym typeface="Cakerolli Bold"/>
              </a:rPr>
              <a:t>BÀI TẬP LỚN</a:t>
            </a:r>
          </a:p>
          <a:p>
            <a:pPr algn="ctr">
              <a:lnSpc>
                <a:spcPts val="8091"/>
              </a:lnSpc>
            </a:pPr>
            <a:r>
              <a:rPr lang="en-US" sz="5779" b="true">
                <a:solidFill>
                  <a:srgbClr val="000000"/>
                </a:solidFill>
                <a:latin typeface="Cakerolli Bold"/>
                <a:ea typeface="Cakerolli Bold"/>
                <a:cs typeface="Cakerolli Bold"/>
                <a:sym typeface="Cakerolli Bold"/>
              </a:rPr>
              <a:t>THỰC HÀNH CÔNG NGHỆ LẬP TRÌNH ĐA NỀN TẢNG CHO ỨNG DỤNG DI ĐỘNG</a:t>
            </a:r>
          </a:p>
          <a:p>
            <a:pPr algn="ctr">
              <a:lnSpc>
                <a:spcPts val="7111"/>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4576762" y="1475373"/>
            <a:ext cx="9573961"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Danh sách thành viên nhóm</a:t>
            </a:r>
          </a:p>
        </p:txBody>
      </p:sp>
      <p:grpSp>
        <p:nvGrpSpPr>
          <p:cNvPr name="Group 35" id="35"/>
          <p:cNvGrpSpPr/>
          <p:nvPr/>
        </p:nvGrpSpPr>
        <p:grpSpPr>
          <a:xfrm rot="0">
            <a:off x="9667249" y="4163086"/>
            <a:ext cx="3175459" cy="3338691"/>
            <a:chOff x="0" y="0"/>
            <a:chExt cx="4233945" cy="4451588"/>
          </a:xfrm>
        </p:grpSpPr>
        <p:sp>
          <p:nvSpPr>
            <p:cNvPr name="Freeform 36" id="36"/>
            <p:cNvSpPr/>
            <p:nvPr/>
          </p:nvSpPr>
          <p:spPr>
            <a:xfrm flipH="false" flipV="false" rot="0">
              <a:off x="1450874" y="0"/>
              <a:ext cx="1332197" cy="1713437"/>
            </a:xfrm>
            <a:custGeom>
              <a:avLst/>
              <a:gdLst/>
              <a:ahLst/>
              <a:cxnLst/>
              <a:rect r="r" b="b" t="t" l="l"/>
              <a:pathLst>
                <a:path h="1713437" w="1332197">
                  <a:moveTo>
                    <a:pt x="0" y="0"/>
                  </a:moveTo>
                  <a:lnTo>
                    <a:pt x="1332197" y="0"/>
                  </a:lnTo>
                  <a:lnTo>
                    <a:pt x="1332197" y="1713437"/>
                  </a:lnTo>
                  <a:lnTo>
                    <a:pt x="0" y="171343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7" id="37"/>
            <p:cNvSpPr txBox="true"/>
            <p:nvPr/>
          </p:nvSpPr>
          <p:spPr>
            <a:xfrm rot="0">
              <a:off x="0" y="2845038"/>
              <a:ext cx="4233945" cy="1606550"/>
            </a:xfrm>
            <a:prstGeom prst="rect">
              <a:avLst/>
            </a:prstGeom>
          </p:spPr>
          <p:txBody>
            <a:bodyPr anchor="t" rtlCol="false" tIns="0" lIns="0" bIns="0" rIns="0">
              <a:spAutoFit/>
            </a:bodyPr>
            <a:lstStyle/>
            <a:p>
              <a:pPr algn="ctr">
                <a:lnSpc>
                  <a:spcPts val="4200"/>
                </a:lnSpc>
              </a:pPr>
              <a:r>
                <a:rPr lang="en-US" sz="3000">
                  <a:solidFill>
                    <a:srgbClr val="FFFFFF"/>
                  </a:solidFill>
                  <a:latin typeface="Cakerolli"/>
                  <a:ea typeface="Cakerolli"/>
                  <a:cs typeface="Cakerolli"/>
                  <a:sym typeface="Cakerolli"/>
                </a:rPr>
                <a:t>Nguyễn Tiến Trung </a:t>
              </a:r>
            </a:p>
            <a:p>
              <a:pPr algn="ctr">
                <a:lnSpc>
                  <a:spcPts val="4200"/>
                </a:lnSpc>
              </a:pPr>
              <a:r>
                <a:rPr lang="en-US" sz="3000">
                  <a:solidFill>
                    <a:srgbClr val="FFFFFF"/>
                  </a:solidFill>
                  <a:latin typeface="Cakerolli"/>
                  <a:ea typeface="Cakerolli"/>
                  <a:cs typeface="Cakerolli"/>
                  <a:sym typeface="Cakerolli"/>
                </a:rPr>
                <a:t>Thành Viên</a:t>
              </a:r>
            </a:p>
          </p:txBody>
        </p:sp>
      </p:grpSp>
      <p:grpSp>
        <p:nvGrpSpPr>
          <p:cNvPr name="Group 38" id="38"/>
          <p:cNvGrpSpPr/>
          <p:nvPr/>
        </p:nvGrpSpPr>
        <p:grpSpPr>
          <a:xfrm rot="0">
            <a:off x="14150724" y="4238570"/>
            <a:ext cx="3044585" cy="3310182"/>
            <a:chOff x="0" y="0"/>
            <a:chExt cx="4059447" cy="4413576"/>
          </a:xfrm>
        </p:grpSpPr>
        <p:sp>
          <p:nvSpPr>
            <p:cNvPr name="Freeform 39" id="39"/>
            <p:cNvSpPr/>
            <p:nvPr/>
          </p:nvSpPr>
          <p:spPr>
            <a:xfrm flipH="false" flipV="false" rot="0">
              <a:off x="1413507" y="0"/>
              <a:ext cx="1232433" cy="1688265"/>
            </a:xfrm>
            <a:custGeom>
              <a:avLst/>
              <a:gdLst/>
              <a:ahLst/>
              <a:cxnLst/>
              <a:rect r="r" b="b" t="t" l="l"/>
              <a:pathLst>
                <a:path h="1688265" w="1232433">
                  <a:moveTo>
                    <a:pt x="0" y="0"/>
                  </a:moveTo>
                  <a:lnTo>
                    <a:pt x="1232433" y="0"/>
                  </a:lnTo>
                  <a:lnTo>
                    <a:pt x="1232433" y="1688265"/>
                  </a:lnTo>
                  <a:lnTo>
                    <a:pt x="0" y="168826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40" id="40"/>
            <p:cNvSpPr txBox="true"/>
            <p:nvPr/>
          </p:nvSpPr>
          <p:spPr>
            <a:xfrm rot="0">
              <a:off x="0" y="2840260"/>
              <a:ext cx="4059447" cy="1573316"/>
            </a:xfrm>
            <a:prstGeom prst="rect">
              <a:avLst/>
            </a:prstGeom>
          </p:spPr>
          <p:txBody>
            <a:bodyPr anchor="t" rtlCol="false" tIns="0" lIns="0" bIns="0" rIns="0">
              <a:spAutoFit/>
            </a:bodyPr>
            <a:lstStyle/>
            <a:p>
              <a:pPr algn="ctr">
                <a:lnSpc>
                  <a:spcPts val="4130"/>
                </a:lnSpc>
              </a:pPr>
              <a:r>
                <a:rPr lang="en-US" sz="2950">
                  <a:solidFill>
                    <a:srgbClr val="2D2A29"/>
                  </a:solidFill>
                  <a:latin typeface="Cakerolli"/>
                  <a:ea typeface="Cakerolli"/>
                  <a:cs typeface="Cakerolli"/>
                  <a:sym typeface="Cakerolli"/>
                </a:rPr>
                <a:t>Bùi Thị Kim Nhung </a:t>
              </a:r>
            </a:p>
            <a:p>
              <a:pPr algn="ctr">
                <a:lnSpc>
                  <a:spcPts val="4130"/>
                </a:lnSpc>
              </a:pPr>
              <a:r>
                <a:rPr lang="en-US" sz="2950">
                  <a:solidFill>
                    <a:srgbClr val="2D2A29"/>
                  </a:solidFill>
                  <a:latin typeface="Cakerolli"/>
                  <a:ea typeface="Cakerolli"/>
                  <a:cs typeface="Cakerolli"/>
                  <a:sym typeface="Cakerolli"/>
                </a:rPr>
                <a:t>Thành Viên </a:t>
              </a:r>
            </a:p>
          </p:txBody>
        </p:sp>
      </p:grpSp>
      <p:grpSp>
        <p:nvGrpSpPr>
          <p:cNvPr name="Group 41" id="41"/>
          <p:cNvGrpSpPr/>
          <p:nvPr/>
        </p:nvGrpSpPr>
        <p:grpSpPr>
          <a:xfrm rot="0">
            <a:off x="1228396" y="4062748"/>
            <a:ext cx="3062151" cy="3439029"/>
            <a:chOff x="0" y="0"/>
            <a:chExt cx="4082868" cy="4585372"/>
          </a:xfrm>
        </p:grpSpPr>
        <p:sp>
          <p:nvSpPr>
            <p:cNvPr name="Freeform 42" id="42"/>
            <p:cNvSpPr/>
            <p:nvPr/>
          </p:nvSpPr>
          <p:spPr>
            <a:xfrm flipH="false" flipV="false" rot="0">
              <a:off x="1480315" y="0"/>
              <a:ext cx="933823" cy="1713437"/>
            </a:xfrm>
            <a:custGeom>
              <a:avLst/>
              <a:gdLst/>
              <a:ahLst/>
              <a:cxnLst/>
              <a:rect r="r" b="b" t="t" l="l"/>
              <a:pathLst>
                <a:path h="1713437" w="933823">
                  <a:moveTo>
                    <a:pt x="0" y="0"/>
                  </a:moveTo>
                  <a:lnTo>
                    <a:pt x="933823" y="0"/>
                  </a:lnTo>
                  <a:lnTo>
                    <a:pt x="933823" y="1713437"/>
                  </a:lnTo>
                  <a:lnTo>
                    <a:pt x="0" y="171343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43" id="43"/>
            <p:cNvSpPr txBox="true"/>
            <p:nvPr/>
          </p:nvSpPr>
          <p:spPr>
            <a:xfrm rot="0">
              <a:off x="0" y="2776468"/>
              <a:ext cx="4082868" cy="1808903"/>
            </a:xfrm>
            <a:prstGeom prst="rect">
              <a:avLst/>
            </a:prstGeom>
          </p:spPr>
          <p:txBody>
            <a:bodyPr anchor="t" rtlCol="false" tIns="0" lIns="0" bIns="0" rIns="0">
              <a:spAutoFit/>
            </a:bodyPr>
            <a:lstStyle/>
            <a:p>
              <a:pPr algn="ctr">
                <a:lnSpc>
                  <a:spcPts val="4759"/>
                </a:lnSpc>
              </a:pPr>
              <a:r>
                <a:rPr lang="en-US" sz="3399">
                  <a:solidFill>
                    <a:srgbClr val="2D2A29"/>
                  </a:solidFill>
                  <a:latin typeface="Cakerolli"/>
                  <a:ea typeface="Cakerolli"/>
                  <a:cs typeface="Cakerolli"/>
                  <a:sym typeface="Cakerolli"/>
                </a:rPr>
                <a:t>ĐỖ Danh Huy</a:t>
              </a:r>
            </a:p>
            <a:p>
              <a:pPr algn="ctr">
                <a:lnSpc>
                  <a:spcPts val="4759"/>
                </a:lnSpc>
              </a:pPr>
              <a:r>
                <a:rPr lang="en-US" sz="3399">
                  <a:solidFill>
                    <a:srgbClr val="2D2A29"/>
                  </a:solidFill>
                  <a:latin typeface="Cakerolli"/>
                  <a:ea typeface="Cakerolli"/>
                  <a:cs typeface="Cakerolli"/>
                  <a:sym typeface="Cakerolli"/>
                </a:rPr>
                <a:t>Trưởng Nhóm</a:t>
              </a:r>
            </a:p>
          </p:txBody>
        </p:sp>
      </p:grpSp>
      <p:grpSp>
        <p:nvGrpSpPr>
          <p:cNvPr name="Group 44" id="44"/>
          <p:cNvGrpSpPr/>
          <p:nvPr/>
        </p:nvGrpSpPr>
        <p:grpSpPr>
          <a:xfrm rot="0">
            <a:off x="5989521" y="4062748"/>
            <a:ext cx="2305722" cy="3486003"/>
            <a:chOff x="0" y="0"/>
            <a:chExt cx="3074296" cy="4648004"/>
          </a:xfrm>
        </p:grpSpPr>
        <p:sp>
          <p:nvSpPr>
            <p:cNvPr name="Freeform 45" id="45"/>
            <p:cNvSpPr/>
            <p:nvPr/>
          </p:nvSpPr>
          <p:spPr>
            <a:xfrm flipH="false" flipV="false" rot="0">
              <a:off x="996345" y="0"/>
              <a:ext cx="1081607" cy="1713437"/>
            </a:xfrm>
            <a:custGeom>
              <a:avLst/>
              <a:gdLst/>
              <a:ahLst/>
              <a:cxnLst/>
              <a:rect r="r" b="b" t="t" l="l"/>
              <a:pathLst>
                <a:path h="1713437" w="1081607">
                  <a:moveTo>
                    <a:pt x="0" y="0"/>
                  </a:moveTo>
                  <a:lnTo>
                    <a:pt x="1081606" y="0"/>
                  </a:lnTo>
                  <a:lnTo>
                    <a:pt x="1081606" y="1713437"/>
                  </a:lnTo>
                  <a:lnTo>
                    <a:pt x="0" y="171343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46" id="46"/>
            <p:cNvSpPr txBox="true"/>
            <p:nvPr/>
          </p:nvSpPr>
          <p:spPr>
            <a:xfrm rot="0">
              <a:off x="0" y="2839101"/>
              <a:ext cx="3074296" cy="1808903"/>
            </a:xfrm>
            <a:prstGeom prst="rect">
              <a:avLst/>
            </a:prstGeom>
          </p:spPr>
          <p:txBody>
            <a:bodyPr anchor="t" rtlCol="false" tIns="0" lIns="0" bIns="0" rIns="0">
              <a:spAutoFit/>
            </a:bodyPr>
            <a:lstStyle/>
            <a:p>
              <a:pPr algn="ctr">
                <a:lnSpc>
                  <a:spcPts val="4759"/>
                </a:lnSpc>
              </a:pPr>
              <a:r>
                <a:rPr lang="en-US" sz="3399">
                  <a:solidFill>
                    <a:srgbClr val="FFFFFF"/>
                  </a:solidFill>
                  <a:latin typeface="Cakerolli"/>
                  <a:ea typeface="Cakerolli"/>
                  <a:cs typeface="Cakerolli"/>
                  <a:sym typeface="Cakerolli"/>
                </a:rPr>
                <a:t>Đỗ Văn Huy</a:t>
              </a:r>
            </a:p>
            <a:p>
              <a:pPr algn="ctr">
                <a:lnSpc>
                  <a:spcPts val="4759"/>
                </a:lnSpc>
              </a:pPr>
              <a:r>
                <a:rPr lang="en-US" sz="3399">
                  <a:solidFill>
                    <a:srgbClr val="FFFFFF"/>
                  </a:solidFill>
                  <a:latin typeface="Cakerolli"/>
                  <a:ea typeface="Cakerolli"/>
                  <a:cs typeface="Cakerolli"/>
                  <a:sym typeface="Cakerolli"/>
                </a:rPr>
                <a:t>Thành viên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0" id="30"/>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1" id="31"/>
          <p:cNvSpPr/>
          <p:nvPr/>
        </p:nvSpPr>
        <p:spPr>
          <a:xfrm flipH="false" flipV="false" rot="0">
            <a:off x="-83719" y="1777369"/>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2433344">
            <a:off x="-626247" y="7986328"/>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false" flipV="false" rot="323603">
            <a:off x="16904175" y="6172657"/>
            <a:ext cx="710251" cy="892756"/>
          </a:xfrm>
          <a:custGeom>
            <a:avLst/>
            <a:gdLst/>
            <a:ahLst/>
            <a:cxnLst/>
            <a:rect r="r" b="b" t="t" l="l"/>
            <a:pathLst>
              <a:path h="892756" w="710251">
                <a:moveTo>
                  <a:pt x="0" y="0"/>
                </a:moveTo>
                <a:lnTo>
                  <a:pt x="710250" y="0"/>
                </a:lnTo>
                <a:lnTo>
                  <a:pt x="710250"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4" id="34"/>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false" flipV="false" rot="0">
            <a:off x="3238445" y="3572416"/>
            <a:ext cx="11782535" cy="5685884"/>
          </a:xfrm>
          <a:custGeom>
            <a:avLst/>
            <a:gdLst/>
            <a:ahLst/>
            <a:cxnLst/>
            <a:rect r="r" b="b" t="t" l="l"/>
            <a:pathLst>
              <a:path h="5685884" w="11782535">
                <a:moveTo>
                  <a:pt x="0" y="0"/>
                </a:moveTo>
                <a:lnTo>
                  <a:pt x="11782535" y="0"/>
                </a:lnTo>
                <a:lnTo>
                  <a:pt x="11782535" y="5685884"/>
                </a:lnTo>
                <a:lnTo>
                  <a:pt x="0" y="5685884"/>
                </a:lnTo>
                <a:lnTo>
                  <a:pt x="0" y="0"/>
                </a:lnTo>
                <a:close/>
              </a:path>
            </a:pathLst>
          </a:custGeom>
          <a:blipFill>
            <a:blip r:embed="rId14"/>
            <a:stretch>
              <a:fillRect l="0" t="0" r="0" b="0"/>
            </a:stretch>
          </a:blipFill>
        </p:spPr>
      </p:sp>
      <p:sp>
        <p:nvSpPr>
          <p:cNvPr name="TextBox 36" id="36"/>
          <p:cNvSpPr txBox="true"/>
          <p:nvPr/>
        </p:nvSpPr>
        <p:spPr>
          <a:xfrm rot="0">
            <a:off x="1350169" y="3672639"/>
            <a:ext cx="15584113" cy="874091"/>
          </a:xfrm>
          <a:prstGeom prst="rect">
            <a:avLst/>
          </a:prstGeom>
        </p:spPr>
        <p:txBody>
          <a:bodyPr anchor="t" rtlCol="false" tIns="0" lIns="0" bIns="0" rIns="0">
            <a:spAutoFit/>
          </a:bodyPr>
          <a:lstStyle/>
          <a:p>
            <a:pPr algn="ctr">
              <a:lnSpc>
                <a:spcPts val="4921"/>
              </a:lnSpc>
            </a:pPr>
          </a:p>
        </p:txBody>
      </p:sp>
      <p:sp>
        <p:nvSpPr>
          <p:cNvPr name="TextBox 37" id="37"/>
          <p:cNvSpPr txBox="true"/>
          <p:nvPr/>
        </p:nvSpPr>
        <p:spPr>
          <a:xfrm rot="0">
            <a:off x="3908524" y="1475373"/>
            <a:ext cx="10442377" cy="1391285"/>
          </a:xfrm>
          <a:prstGeom prst="rect">
            <a:avLst/>
          </a:prstGeom>
        </p:spPr>
        <p:txBody>
          <a:bodyPr anchor="t" rtlCol="false" tIns="0" lIns="0" bIns="0" rIns="0">
            <a:spAutoFit/>
          </a:bodyPr>
          <a:lstStyle/>
          <a:p>
            <a:pPr algn="ctr">
              <a:lnSpc>
                <a:spcPts val="7840"/>
              </a:lnSpc>
            </a:pPr>
            <a:r>
              <a:rPr lang="en-US" sz="5600" b="true">
                <a:solidFill>
                  <a:srgbClr val="485B90"/>
                </a:solidFill>
                <a:latin typeface="Cakerolli Ultra-Bold"/>
                <a:ea typeface="Cakerolli Ultra-Bold"/>
                <a:cs typeface="Cakerolli Ultra-Bold"/>
                <a:sym typeface="Cakerolli Ultra-Bold"/>
              </a:rPr>
              <a:t>Phân chia nhiệm vụ</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0" id="30"/>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1" id="31"/>
          <p:cNvSpPr/>
          <p:nvPr/>
        </p:nvSpPr>
        <p:spPr>
          <a:xfrm flipH="false" flipV="false" rot="0">
            <a:off x="-83719" y="1777369"/>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2433344">
            <a:off x="-626247" y="7986328"/>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false" flipV="false" rot="323603">
            <a:off x="16904175" y="6172657"/>
            <a:ext cx="710251" cy="892756"/>
          </a:xfrm>
          <a:custGeom>
            <a:avLst/>
            <a:gdLst/>
            <a:ahLst/>
            <a:cxnLst/>
            <a:rect r="r" b="b" t="t" l="l"/>
            <a:pathLst>
              <a:path h="892756" w="710251">
                <a:moveTo>
                  <a:pt x="0" y="0"/>
                </a:moveTo>
                <a:lnTo>
                  <a:pt x="710250" y="0"/>
                </a:lnTo>
                <a:lnTo>
                  <a:pt x="710250"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4" id="34"/>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5" id="35"/>
          <p:cNvSpPr txBox="true"/>
          <p:nvPr/>
        </p:nvSpPr>
        <p:spPr>
          <a:xfrm rot="0">
            <a:off x="1350169" y="3672639"/>
            <a:ext cx="15584113" cy="874091"/>
          </a:xfrm>
          <a:prstGeom prst="rect">
            <a:avLst/>
          </a:prstGeom>
        </p:spPr>
        <p:txBody>
          <a:bodyPr anchor="t" rtlCol="false" tIns="0" lIns="0" bIns="0" rIns="0">
            <a:spAutoFit/>
          </a:bodyPr>
          <a:lstStyle/>
          <a:p>
            <a:pPr algn="ctr">
              <a:lnSpc>
                <a:spcPts val="4921"/>
              </a:lnSpc>
            </a:pPr>
          </a:p>
        </p:txBody>
      </p:sp>
      <p:sp>
        <p:nvSpPr>
          <p:cNvPr name="TextBox 36" id="36"/>
          <p:cNvSpPr txBox="true"/>
          <p:nvPr/>
        </p:nvSpPr>
        <p:spPr>
          <a:xfrm rot="0">
            <a:off x="3908524" y="1475373"/>
            <a:ext cx="10442377" cy="1391285"/>
          </a:xfrm>
          <a:prstGeom prst="rect">
            <a:avLst/>
          </a:prstGeom>
        </p:spPr>
        <p:txBody>
          <a:bodyPr anchor="t" rtlCol="false" tIns="0" lIns="0" bIns="0" rIns="0">
            <a:spAutoFit/>
          </a:bodyPr>
          <a:lstStyle/>
          <a:p>
            <a:pPr algn="ctr">
              <a:lnSpc>
                <a:spcPts val="7840"/>
              </a:lnSpc>
            </a:pPr>
            <a:r>
              <a:rPr lang="en-US" sz="5600" b="true">
                <a:solidFill>
                  <a:srgbClr val="485B90"/>
                </a:solidFill>
                <a:latin typeface="Cakerolli Ultra-Bold"/>
                <a:ea typeface="Cakerolli Ultra-Bold"/>
                <a:cs typeface="Cakerolli Ultra-Bold"/>
                <a:sym typeface="Cakerolli Ultra-Bold"/>
              </a:rPr>
              <a:t>LÍ DO CHỌN ĐỀ TÀI</a:t>
            </a:r>
          </a:p>
        </p:txBody>
      </p:sp>
      <p:sp>
        <p:nvSpPr>
          <p:cNvPr name="TextBox 37" id="37"/>
          <p:cNvSpPr txBox="true"/>
          <p:nvPr/>
        </p:nvSpPr>
        <p:spPr>
          <a:xfrm rot="0">
            <a:off x="133736" y="2601329"/>
            <a:ext cx="17695510" cy="5751951"/>
          </a:xfrm>
          <a:prstGeom prst="rect">
            <a:avLst/>
          </a:prstGeom>
        </p:spPr>
        <p:txBody>
          <a:bodyPr anchor="t" rtlCol="false" tIns="0" lIns="0" bIns="0" rIns="0">
            <a:spAutoFit/>
          </a:bodyPr>
          <a:lstStyle/>
          <a:p>
            <a:pPr algn="ctr">
              <a:lnSpc>
                <a:spcPts val="2960"/>
              </a:lnSpc>
              <a:spcBef>
                <a:spcPct val="0"/>
              </a:spcBef>
            </a:pPr>
            <a:r>
              <a:rPr lang="en-US" b="true" sz="2114">
                <a:solidFill>
                  <a:srgbClr val="000000"/>
                </a:solidFill>
                <a:latin typeface="Cakerolli Bold"/>
                <a:ea typeface="Cakerolli Bold"/>
                <a:cs typeface="Cakerolli Bold"/>
                <a:sym typeface="Cakerolli Bold"/>
              </a:rPr>
              <a:t> </a:t>
            </a:r>
          </a:p>
          <a:p>
            <a:pPr algn="ctr">
              <a:lnSpc>
                <a:spcPts val="2960"/>
              </a:lnSpc>
              <a:spcBef>
                <a:spcPct val="0"/>
              </a:spcBef>
            </a:pPr>
            <a:r>
              <a:rPr lang="en-US" b="true" sz="2114">
                <a:solidFill>
                  <a:srgbClr val="000000"/>
                </a:solidFill>
                <a:latin typeface="Cakerolli Bold"/>
                <a:ea typeface="Cakerolli Bold"/>
                <a:cs typeface="Cakerolli Bold"/>
                <a:sym typeface="Cakerolli Bold"/>
              </a:rPr>
              <a:t>Đề tài "Quản Lý Nhà Hàng" được chọn vì đây là lĩnh vực đang có nhu cầu cao và tiềm năng phát triển lớn trong thời đại số hóa hiện nay. Ngành nhà hàng đang phải đối mặt với nhiều thách thức, từ việc quản lý đặt bàn, thực đơn đến quy trình thanh toán. Việc ứng dụng công nghệ di động vào quản lý nhà hàng không chỉ giúp tối ưu hóa các quy trình này mà còn nâng cao trải nghiệm của khách hàng, tạo sự thuận tiện và hiệu quả trong dịch vụ.</a:t>
            </a:r>
          </a:p>
          <a:p>
            <a:pPr algn="ctr">
              <a:lnSpc>
                <a:spcPts val="2960"/>
              </a:lnSpc>
              <a:spcBef>
                <a:spcPct val="0"/>
              </a:spcBef>
            </a:pPr>
            <a:r>
              <a:rPr lang="en-US" b="true" sz="2114">
                <a:solidFill>
                  <a:srgbClr val="000000"/>
                </a:solidFill>
                <a:latin typeface="Cakerolli Bold"/>
                <a:ea typeface="Cakerolli Bold"/>
                <a:cs typeface="Cakerolli Bold"/>
                <a:sym typeface="Cakerolli Bold"/>
              </a:rPr>
              <a:t> </a:t>
            </a:r>
          </a:p>
          <a:p>
            <a:pPr algn="ctr">
              <a:lnSpc>
                <a:spcPts val="2960"/>
              </a:lnSpc>
              <a:spcBef>
                <a:spcPct val="0"/>
              </a:spcBef>
            </a:pPr>
            <a:r>
              <a:rPr lang="en-US" b="true" sz="2114">
                <a:solidFill>
                  <a:srgbClr val="000000"/>
                </a:solidFill>
                <a:latin typeface="Cakerolli Bold"/>
                <a:ea typeface="Cakerolli Bold"/>
                <a:cs typeface="Cakerolli Bold"/>
                <a:sym typeface="Cakerolli Bold"/>
              </a:rPr>
              <a:t>Hơn nữa, sự phát triển mạnh mẽ của công nghệ di động đã mở ra nhiều cơ hội mới cho các doanh nghiệp trong ngành dịch vụ. Việc xây dựng một ứng dụng quản lý thân thiện, dễ sử dụng sẽ giúp nhà hàng cải thiện hiệu suất làm việc, giảm thiểu sai sót và tăng cường khả năng tương tác với khách hàng. Đồng thời, ứng dụng còn có thể cung cấp các công cụ phân tích dữ liệu, hỗ trợ quản lý trong việc đưa ra quyết định chiến lược dựa trên các xu hướng tiêu dùng.</a:t>
            </a:r>
          </a:p>
          <a:p>
            <a:pPr algn="ctr">
              <a:lnSpc>
                <a:spcPts val="2960"/>
              </a:lnSpc>
              <a:spcBef>
                <a:spcPct val="0"/>
              </a:spcBef>
            </a:pPr>
            <a:r>
              <a:rPr lang="en-US" b="true" sz="2114">
                <a:solidFill>
                  <a:srgbClr val="000000"/>
                </a:solidFill>
                <a:latin typeface="Cakerolli Bold"/>
                <a:ea typeface="Cakerolli Bold"/>
                <a:cs typeface="Cakerolli Bold"/>
                <a:sym typeface="Cakerolli Bold"/>
              </a:rPr>
              <a:t> </a:t>
            </a:r>
          </a:p>
          <a:p>
            <a:pPr algn="ctr">
              <a:lnSpc>
                <a:spcPts val="2960"/>
              </a:lnSpc>
              <a:spcBef>
                <a:spcPct val="0"/>
              </a:spcBef>
            </a:pPr>
            <a:r>
              <a:rPr lang="en-US" b="true" sz="2114">
                <a:solidFill>
                  <a:srgbClr val="000000"/>
                </a:solidFill>
                <a:latin typeface="Cakerolli Bold"/>
                <a:ea typeface="Cakerolli Bold"/>
                <a:cs typeface="Cakerolli Bold"/>
                <a:sym typeface="Cakerolli Bold"/>
              </a:rPr>
              <a:t>Chúng em hy vọng rằng đề tài này không chỉ giúp chúng em rèn luyện kỹ năng lập trình và hiểu biết về quản lý mà còn góp phần cải thiện hoạt động trong ngành dịch vụ ăn uống, mang lại giá trị thiết thực cho cả nhân viên và khách hàng. Qua đó, chúng em cũng mong muốn khơi dậy niềm đam mê và sự sáng tạo trong việc ứng dụng công nghệ vào thực tiễn.</a:t>
            </a:r>
          </a:p>
          <a:p>
            <a:pPr algn="ctr">
              <a:lnSpc>
                <a:spcPts val="2960"/>
              </a:lnSpc>
              <a:spcBef>
                <a:spcPct val="0"/>
              </a:spcBef>
            </a:pPr>
            <a:r>
              <a:rPr lang="en-US" b="true" sz="2114">
                <a:solidFill>
                  <a:srgbClr val="000000"/>
                </a:solidFill>
                <a:latin typeface="Cakerolli Bold"/>
                <a:ea typeface="Cakerolli Bold"/>
                <a:cs typeface="Cakerolli Bold"/>
                <a:sym typeface="Cakerolli Bold"/>
              </a:rPr>
              <a: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4576762" y="1475373"/>
            <a:ext cx="9573961"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Nội dung</a:t>
            </a:r>
          </a:p>
        </p:txBody>
      </p:sp>
      <p:grpSp>
        <p:nvGrpSpPr>
          <p:cNvPr name="Group 35" id="35"/>
          <p:cNvGrpSpPr/>
          <p:nvPr/>
        </p:nvGrpSpPr>
        <p:grpSpPr>
          <a:xfrm rot="0">
            <a:off x="7194208" y="3980802"/>
            <a:ext cx="3175459" cy="3461881"/>
            <a:chOff x="0" y="0"/>
            <a:chExt cx="4233945" cy="4615842"/>
          </a:xfrm>
        </p:grpSpPr>
        <p:sp>
          <p:nvSpPr>
            <p:cNvPr name="Freeform 36" id="36"/>
            <p:cNvSpPr/>
            <p:nvPr/>
          </p:nvSpPr>
          <p:spPr>
            <a:xfrm flipH="false" flipV="false" rot="0">
              <a:off x="1450874" y="0"/>
              <a:ext cx="1332197" cy="1713437"/>
            </a:xfrm>
            <a:custGeom>
              <a:avLst/>
              <a:gdLst/>
              <a:ahLst/>
              <a:cxnLst/>
              <a:rect r="r" b="b" t="t" l="l"/>
              <a:pathLst>
                <a:path h="1713437" w="1332197">
                  <a:moveTo>
                    <a:pt x="0" y="0"/>
                  </a:moveTo>
                  <a:lnTo>
                    <a:pt x="1332197" y="0"/>
                  </a:lnTo>
                  <a:lnTo>
                    <a:pt x="1332197" y="1713437"/>
                  </a:lnTo>
                  <a:lnTo>
                    <a:pt x="0" y="171343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7" id="37"/>
            <p:cNvSpPr txBox="true"/>
            <p:nvPr/>
          </p:nvSpPr>
          <p:spPr>
            <a:xfrm rot="0">
              <a:off x="0" y="2806938"/>
              <a:ext cx="4233945" cy="1808903"/>
            </a:xfrm>
            <a:prstGeom prst="rect">
              <a:avLst/>
            </a:prstGeom>
          </p:spPr>
          <p:txBody>
            <a:bodyPr anchor="t" rtlCol="false" tIns="0" lIns="0" bIns="0" rIns="0">
              <a:spAutoFit/>
            </a:bodyPr>
            <a:lstStyle/>
            <a:p>
              <a:pPr algn="ctr">
                <a:lnSpc>
                  <a:spcPts val="4759"/>
                </a:lnSpc>
              </a:pPr>
              <a:r>
                <a:rPr lang="en-US" sz="3399">
                  <a:solidFill>
                    <a:srgbClr val="FFFFFF"/>
                  </a:solidFill>
                  <a:latin typeface="Cakerolli"/>
                  <a:ea typeface="Cakerolli"/>
                  <a:cs typeface="Cakerolli"/>
                  <a:sym typeface="Cakerolli"/>
                </a:rPr>
                <a:t>Xây dựng chương trình</a:t>
              </a:r>
            </a:p>
          </p:txBody>
        </p:sp>
      </p:grpSp>
      <p:grpSp>
        <p:nvGrpSpPr>
          <p:cNvPr name="Group 38" id="38"/>
          <p:cNvGrpSpPr/>
          <p:nvPr/>
        </p:nvGrpSpPr>
        <p:grpSpPr>
          <a:xfrm rot="0">
            <a:off x="10265574" y="4018257"/>
            <a:ext cx="3089979" cy="3486003"/>
            <a:chOff x="0" y="0"/>
            <a:chExt cx="4119972" cy="4648004"/>
          </a:xfrm>
        </p:grpSpPr>
        <p:sp>
          <p:nvSpPr>
            <p:cNvPr name="Freeform 39" id="39"/>
            <p:cNvSpPr/>
            <p:nvPr/>
          </p:nvSpPr>
          <p:spPr>
            <a:xfrm flipH="false" flipV="false" rot="0">
              <a:off x="1434582" y="0"/>
              <a:ext cx="1250809" cy="1713437"/>
            </a:xfrm>
            <a:custGeom>
              <a:avLst/>
              <a:gdLst/>
              <a:ahLst/>
              <a:cxnLst/>
              <a:rect r="r" b="b" t="t" l="l"/>
              <a:pathLst>
                <a:path h="1713437" w="1250809">
                  <a:moveTo>
                    <a:pt x="0" y="0"/>
                  </a:moveTo>
                  <a:lnTo>
                    <a:pt x="1250808" y="0"/>
                  </a:lnTo>
                  <a:lnTo>
                    <a:pt x="1250808" y="1713437"/>
                  </a:lnTo>
                  <a:lnTo>
                    <a:pt x="0" y="171343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40" id="40"/>
            <p:cNvSpPr txBox="true"/>
            <p:nvPr/>
          </p:nvSpPr>
          <p:spPr>
            <a:xfrm rot="0">
              <a:off x="0" y="2839101"/>
              <a:ext cx="4119972" cy="1808903"/>
            </a:xfrm>
            <a:prstGeom prst="rect">
              <a:avLst/>
            </a:prstGeom>
          </p:spPr>
          <p:txBody>
            <a:bodyPr anchor="t" rtlCol="false" tIns="0" lIns="0" bIns="0" rIns="0">
              <a:spAutoFit/>
            </a:bodyPr>
            <a:lstStyle/>
            <a:p>
              <a:pPr algn="ctr">
                <a:lnSpc>
                  <a:spcPts val="4759"/>
                </a:lnSpc>
              </a:pPr>
              <a:r>
                <a:rPr lang="en-US" sz="3399">
                  <a:solidFill>
                    <a:srgbClr val="2D2A29"/>
                  </a:solidFill>
                  <a:latin typeface="Cakerolli"/>
                  <a:ea typeface="Cakerolli"/>
                  <a:cs typeface="Cakerolli"/>
                  <a:sym typeface="Cakerolli"/>
                </a:rPr>
                <a:t>Kiểm thử chương trình</a:t>
              </a:r>
            </a:p>
          </p:txBody>
        </p:sp>
      </p:grpSp>
      <p:grpSp>
        <p:nvGrpSpPr>
          <p:cNvPr name="Group 41" id="41"/>
          <p:cNvGrpSpPr/>
          <p:nvPr/>
        </p:nvGrpSpPr>
        <p:grpSpPr>
          <a:xfrm rot="0">
            <a:off x="542305" y="4018257"/>
            <a:ext cx="3062151" cy="3439029"/>
            <a:chOff x="0" y="0"/>
            <a:chExt cx="4082868" cy="4585372"/>
          </a:xfrm>
        </p:grpSpPr>
        <p:sp>
          <p:nvSpPr>
            <p:cNvPr name="Freeform 42" id="42"/>
            <p:cNvSpPr/>
            <p:nvPr/>
          </p:nvSpPr>
          <p:spPr>
            <a:xfrm flipH="false" flipV="false" rot="0">
              <a:off x="1480315" y="0"/>
              <a:ext cx="933823" cy="1713437"/>
            </a:xfrm>
            <a:custGeom>
              <a:avLst/>
              <a:gdLst/>
              <a:ahLst/>
              <a:cxnLst/>
              <a:rect r="r" b="b" t="t" l="l"/>
              <a:pathLst>
                <a:path h="1713437" w="933823">
                  <a:moveTo>
                    <a:pt x="0" y="0"/>
                  </a:moveTo>
                  <a:lnTo>
                    <a:pt x="933823" y="0"/>
                  </a:lnTo>
                  <a:lnTo>
                    <a:pt x="933823" y="1713437"/>
                  </a:lnTo>
                  <a:lnTo>
                    <a:pt x="0" y="171343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43" id="43"/>
            <p:cNvSpPr txBox="true"/>
            <p:nvPr/>
          </p:nvSpPr>
          <p:spPr>
            <a:xfrm rot="0">
              <a:off x="0" y="2776468"/>
              <a:ext cx="4082868" cy="1808903"/>
            </a:xfrm>
            <a:prstGeom prst="rect">
              <a:avLst/>
            </a:prstGeom>
          </p:spPr>
          <p:txBody>
            <a:bodyPr anchor="t" rtlCol="false" tIns="0" lIns="0" bIns="0" rIns="0">
              <a:spAutoFit/>
            </a:bodyPr>
            <a:lstStyle/>
            <a:p>
              <a:pPr algn="ctr">
                <a:lnSpc>
                  <a:spcPts val="4759"/>
                </a:lnSpc>
              </a:pPr>
              <a:r>
                <a:rPr lang="en-US" sz="3399">
                  <a:solidFill>
                    <a:srgbClr val="2D2A29"/>
                  </a:solidFill>
                  <a:latin typeface="Cakerolli"/>
                  <a:ea typeface="Cakerolli"/>
                  <a:cs typeface="Cakerolli"/>
                  <a:sym typeface="Cakerolli"/>
                </a:rPr>
                <a:t>Khảo sát hệ thống</a:t>
              </a:r>
            </a:p>
          </p:txBody>
        </p:sp>
      </p:grpSp>
      <p:grpSp>
        <p:nvGrpSpPr>
          <p:cNvPr name="Group 44" id="44"/>
          <p:cNvGrpSpPr/>
          <p:nvPr/>
        </p:nvGrpSpPr>
        <p:grpSpPr>
          <a:xfrm rot="0">
            <a:off x="3961599" y="3925462"/>
            <a:ext cx="2620047" cy="3578798"/>
            <a:chOff x="0" y="0"/>
            <a:chExt cx="3493396" cy="4771731"/>
          </a:xfrm>
        </p:grpSpPr>
        <p:sp>
          <p:nvSpPr>
            <p:cNvPr name="Freeform 45" id="45"/>
            <p:cNvSpPr/>
            <p:nvPr/>
          </p:nvSpPr>
          <p:spPr>
            <a:xfrm flipH="false" flipV="false" rot="0">
              <a:off x="1132170" y="0"/>
              <a:ext cx="1229056" cy="1947019"/>
            </a:xfrm>
            <a:custGeom>
              <a:avLst/>
              <a:gdLst/>
              <a:ahLst/>
              <a:cxnLst/>
              <a:rect r="r" b="b" t="t" l="l"/>
              <a:pathLst>
                <a:path h="1947019" w="1229056">
                  <a:moveTo>
                    <a:pt x="0" y="0"/>
                  </a:moveTo>
                  <a:lnTo>
                    <a:pt x="1229056" y="0"/>
                  </a:lnTo>
                  <a:lnTo>
                    <a:pt x="1229056" y="1947019"/>
                  </a:lnTo>
                  <a:lnTo>
                    <a:pt x="0" y="194701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46" id="46"/>
            <p:cNvSpPr txBox="true"/>
            <p:nvPr/>
          </p:nvSpPr>
          <p:spPr>
            <a:xfrm rot="0">
              <a:off x="0" y="3327437"/>
              <a:ext cx="3493396" cy="1444294"/>
            </a:xfrm>
            <a:prstGeom prst="rect">
              <a:avLst/>
            </a:prstGeom>
          </p:spPr>
          <p:txBody>
            <a:bodyPr anchor="t" rtlCol="false" tIns="0" lIns="0" bIns="0" rIns="0">
              <a:spAutoFit/>
            </a:bodyPr>
            <a:lstStyle/>
            <a:p>
              <a:pPr algn="ctr">
                <a:lnSpc>
                  <a:spcPts val="3818"/>
                </a:lnSpc>
              </a:pPr>
              <a:r>
                <a:rPr lang="en-US" sz="2727">
                  <a:solidFill>
                    <a:srgbClr val="FFFFFF"/>
                  </a:solidFill>
                  <a:latin typeface="Cakerolli"/>
                  <a:ea typeface="Cakerolli"/>
                  <a:cs typeface="Cakerolli"/>
                  <a:sym typeface="Cakerolli"/>
                </a:rPr>
                <a:t>Phân tích &amp; thiết kế hệ thống</a:t>
              </a:r>
            </a:p>
          </p:txBody>
        </p:sp>
      </p:grpSp>
      <p:grpSp>
        <p:nvGrpSpPr>
          <p:cNvPr name="Group 47" id="47"/>
          <p:cNvGrpSpPr/>
          <p:nvPr/>
        </p:nvGrpSpPr>
        <p:grpSpPr>
          <a:xfrm rot="0">
            <a:off x="13283939" y="4044228"/>
            <a:ext cx="3596666" cy="3460033"/>
            <a:chOff x="0" y="0"/>
            <a:chExt cx="4795554" cy="4613377"/>
          </a:xfrm>
        </p:grpSpPr>
        <p:sp>
          <p:nvSpPr>
            <p:cNvPr name="Freeform 48" id="48"/>
            <p:cNvSpPr/>
            <p:nvPr/>
          </p:nvSpPr>
          <p:spPr>
            <a:xfrm flipH="false" flipV="false" rot="0">
              <a:off x="1835556" y="0"/>
              <a:ext cx="1124443" cy="1713437"/>
            </a:xfrm>
            <a:custGeom>
              <a:avLst/>
              <a:gdLst/>
              <a:ahLst/>
              <a:cxnLst/>
              <a:rect r="r" b="b" t="t" l="l"/>
              <a:pathLst>
                <a:path h="1713437" w="1124443">
                  <a:moveTo>
                    <a:pt x="0" y="0"/>
                  </a:moveTo>
                  <a:lnTo>
                    <a:pt x="1124442" y="0"/>
                  </a:lnTo>
                  <a:lnTo>
                    <a:pt x="1124442" y="1713437"/>
                  </a:lnTo>
                  <a:lnTo>
                    <a:pt x="0" y="1713437"/>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49" id="49"/>
            <p:cNvSpPr txBox="true"/>
            <p:nvPr/>
          </p:nvSpPr>
          <p:spPr>
            <a:xfrm rot="0">
              <a:off x="0" y="2804474"/>
              <a:ext cx="4795554" cy="1808903"/>
            </a:xfrm>
            <a:prstGeom prst="rect">
              <a:avLst/>
            </a:prstGeom>
          </p:spPr>
          <p:txBody>
            <a:bodyPr anchor="t" rtlCol="false" tIns="0" lIns="0" bIns="0" rIns="0">
              <a:spAutoFit/>
            </a:bodyPr>
            <a:lstStyle/>
            <a:p>
              <a:pPr algn="ctr">
                <a:lnSpc>
                  <a:spcPts val="4759"/>
                </a:lnSpc>
              </a:pPr>
              <a:r>
                <a:rPr lang="en-US" sz="3399">
                  <a:solidFill>
                    <a:srgbClr val="2D2A29"/>
                  </a:solidFill>
                  <a:latin typeface="Cakerolli"/>
                  <a:ea typeface="Cakerolli"/>
                  <a:cs typeface="Cakerolli"/>
                  <a:sym typeface="Cakerolli"/>
                </a:rPr>
                <a:t>Kết luận &amp; tài liệu tham khảo</a:t>
              </a:r>
            </a:p>
          </p:txBody>
        </p:sp>
      </p:grpSp>
      <p:sp>
        <p:nvSpPr>
          <p:cNvPr name="TextBox 50" id="50"/>
          <p:cNvSpPr txBox="true"/>
          <p:nvPr/>
        </p:nvSpPr>
        <p:spPr>
          <a:xfrm rot="0">
            <a:off x="-116497" y="3611137"/>
            <a:ext cx="1944031"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293988"/>
                </a:solidFill>
                <a:latin typeface="Cakerolli Bold"/>
                <a:ea typeface="Cakerolli Bold"/>
                <a:cs typeface="Cakerolli Bold"/>
                <a:sym typeface="Cakerolli Bold"/>
              </a:rPr>
              <a:t>Chương</a:t>
            </a:r>
          </a:p>
        </p:txBody>
      </p:sp>
      <p:sp>
        <p:nvSpPr>
          <p:cNvPr name="TextBox 51" id="51"/>
          <p:cNvSpPr txBox="true"/>
          <p:nvPr/>
        </p:nvSpPr>
        <p:spPr>
          <a:xfrm rot="0">
            <a:off x="2989583" y="3666477"/>
            <a:ext cx="1944031"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293988"/>
                </a:solidFill>
                <a:latin typeface="Cakerolli Bold"/>
                <a:ea typeface="Cakerolli Bold"/>
                <a:cs typeface="Cakerolli Bold"/>
                <a:sym typeface="Cakerolli Bold"/>
              </a:rPr>
              <a:t>Chương</a:t>
            </a:r>
          </a:p>
        </p:txBody>
      </p:sp>
      <p:sp>
        <p:nvSpPr>
          <p:cNvPr name="TextBox 52" id="52"/>
          <p:cNvSpPr txBox="true"/>
          <p:nvPr/>
        </p:nvSpPr>
        <p:spPr>
          <a:xfrm rot="0">
            <a:off x="6574955" y="3611137"/>
            <a:ext cx="1944031"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293988"/>
                </a:solidFill>
                <a:latin typeface="Cakerolli Bold"/>
                <a:ea typeface="Cakerolli Bold"/>
                <a:cs typeface="Cakerolli Bold"/>
                <a:sym typeface="Cakerolli Bold"/>
              </a:rPr>
              <a:t>Chương</a:t>
            </a:r>
          </a:p>
        </p:txBody>
      </p:sp>
      <p:sp>
        <p:nvSpPr>
          <p:cNvPr name="TextBox 53" id="53"/>
          <p:cNvSpPr txBox="true"/>
          <p:nvPr/>
        </p:nvSpPr>
        <p:spPr>
          <a:xfrm rot="0">
            <a:off x="9681861" y="3611137"/>
            <a:ext cx="1944031"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293988"/>
                </a:solidFill>
                <a:latin typeface="Cakerolli Bold"/>
                <a:ea typeface="Cakerolli Bold"/>
                <a:cs typeface="Cakerolli Bold"/>
                <a:sym typeface="Cakerolli Bold"/>
              </a:rPr>
              <a:t>Chương</a:t>
            </a:r>
          </a:p>
        </p:txBody>
      </p:sp>
      <p:sp>
        <p:nvSpPr>
          <p:cNvPr name="TextBox 54" id="54"/>
          <p:cNvSpPr txBox="true"/>
          <p:nvPr/>
        </p:nvSpPr>
        <p:spPr>
          <a:xfrm rot="0">
            <a:off x="12858897" y="3611137"/>
            <a:ext cx="1944031"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293988"/>
                </a:solidFill>
                <a:latin typeface="Cakerolli Bold"/>
                <a:ea typeface="Cakerolli Bold"/>
                <a:cs typeface="Cakerolli Bold"/>
                <a:sym typeface="Cakerolli Bold"/>
              </a:rPr>
              <a:t>Chương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1337658" y="5007381"/>
            <a:ext cx="3667264" cy="2340381"/>
          </a:xfrm>
          <a:custGeom>
            <a:avLst/>
            <a:gdLst/>
            <a:ahLst/>
            <a:cxnLst/>
            <a:rect r="r" b="b" t="t" l="l"/>
            <a:pathLst>
              <a:path h="2340381" w="3667264">
                <a:moveTo>
                  <a:pt x="0" y="0"/>
                </a:moveTo>
                <a:lnTo>
                  <a:pt x="3667264" y="0"/>
                </a:lnTo>
                <a:lnTo>
                  <a:pt x="3667264" y="2340381"/>
                </a:lnTo>
                <a:lnTo>
                  <a:pt x="0" y="234038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5" id="35"/>
          <p:cNvSpPr txBox="true"/>
          <p:nvPr/>
        </p:nvSpPr>
        <p:spPr>
          <a:xfrm rot="0">
            <a:off x="3635871" y="1475373"/>
            <a:ext cx="11481700"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1: Khảo sát hệ thống </a:t>
            </a:r>
          </a:p>
        </p:txBody>
      </p:sp>
      <p:sp>
        <p:nvSpPr>
          <p:cNvPr name="TextBox 36" id="36"/>
          <p:cNvSpPr txBox="true"/>
          <p:nvPr/>
        </p:nvSpPr>
        <p:spPr>
          <a:xfrm rot="0">
            <a:off x="1808814" y="5520274"/>
            <a:ext cx="2648658" cy="1178892"/>
          </a:xfrm>
          <a:prstGeom prst="rect">
            <a:avLst/>
          </a:prstGeom>
        </p:spPr>
        <p:txBody>
          <a:bodyPr anchor="t" rtlCol="false" tIns="0" lIns="0" bIns="0" rIns="0">
            <a:spAutoFit/>
          </a:bodyPr>
          <a:lstStyle/>
          <a:p>
            <a:pPr algn="ctr" marL="0" indent="0" lvl="0">
              <a:lnSpc>
                <a:spcPts val="3787"/>
              </a:lnSpc>
            </a:pPr>
            <a:r>
              <a:rPr lang="en-US" b="true" sz="3079">
                <a:solidFill>
                  <a:srgbClr val="FFFFFF"/>
                </a:solidFill>
                <a:latin typeface="Cakerolli Bold"/>
                <a:ea typeface="Cakerolli Bold"/>
                <a:cs typeface="Cakerolli Bold"/>
                <a:sym typeface="Cakerolli Bold"/>
              </a:rPr>
              <a:t>1.1. Địa điểm khải sát</a:t>
            </a:r>
          </a:p>
        </p:txBody>
      </p:sp>
      <p:sp>
        <p:nvSpPr>
          <p:cNvPr name="Freeform 37" id="37"/>
          <p:cNvSpPr/>
          <p:nvPr/>
        </p:nvSpPr>
        <p:spPr>
          <a:xfrm flipH="false" flipV="false" rot="0">
            <a:off x="6685354" y="4954097"/>
            <a:ext cx="3667264" cy="2340381"/>
          </a:xfrm>
          <a:custGeom>
            <a:avLst/>
            <a:gdLst/>
            <a:ahLst/>
            <a:cxnLst/>
            <a:rect r="r" b="b" t="t" l="l"/>
            <a:pathLst>
              <a:path h="2340381" w="3667264">
                <a:moveTo>
                  <a:pt x="0" y="0"/>
                </a:moveTo>
                <a:lnTo>
                  <a:pt x="3667263" y="0"/>
                </a:lnTo>
                <a:lnTo>
                  <a:pt x="3667263" y="2340381"/>
                </a:lnTo>
                <a:lnTo>
                  <a:pt x="0" y="23403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8" id="38"/>
          <p:cNvSpPr txBox="true"/>
          <p:nvPr/>
        </p:nvSpPr>
        <p:spPr>
          <a:xfrm rot="0">
            <a:off x="6685354" y="5111876"/>
            <a:ext cx="3608882" cy="1919488"/>
          </a:xfrm>
          <a:prstGeom prst="rect">
            <a:avLst/>
          </a:prstGeom>
        </p:spPr>
        <p:txBody>
          <a:bodyPr anchor="t" rtlCol="false" tIns="0" lIns="0" bIns="0" rIns="0">
            <a:spAutoFit/>
          </a:bodyPr>
          <a:lstStyle/>
          <a:p>
            <a:pPr algn="ctr">
              <a:lnSpc>
                <a:spcPts val="4451"/>
              </a:lnSpc>
            </a:pPr>
            <a:r>
              <a:rPr lang="en-US" sz="3179" b="true">
                <a:solidFill>
                  <a:srgbClr val="FFFFFF"/>
                </a:solidFill>
                <a:latin typeface="Cakerolli Bold"/>
                <a:ea typeface="Cakerolli Bold"/>
                <a:cs typeface="Cakerolli Bold"/>
                <a:sym typeface="Cakerolli Bold"/>
              </a:rPr>
              <a:t>1.2. Khảo sát hiện trạng và thu thập thông tin</a:t>
            </a:r>
          </a:p>
        </p:txBody>
      </p:sp>
      <p:sp>
        <p:nvSpPr>
          <p:cNvPr name="Freeform 39" id="39"/>
          <p:cNvSpPr/>
          <p:nvPr/>
        </p:nvSpPr>
        <p:spPr>
          <a:xfrm flipH="false" flipV="false" rot="0">
            <a:off x="11860633" y="5007381"/>
            <a:ext cx="3667264" cy="2340381"/>
          </a:xfrm>
          <a:custGeom>
            <a:avLst/>
            <a:gdLst/>
            <a:ahLst/>
            <a:cxnLst/>
            <a:rect r="r" b="b" t="t" l="l"/>
            <a:pathLst>
              <a:path h="2340381" w="3667264">
                <a:moveTo>
                  <a:pt x="0" y="0"/>
                </a:moveTo>
                <a:lnTo>
                  <a:pt x="3667264" y="0"/>
                </a:lnTo>
                <a:lnTo>
                  <a:pt x="3667264" y="2340381"/>
                </a:lnTo>
                <a:lnTo>
                  <a:pt x="0" y="234038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40" id="40"/>
          <p:cNvSpPr txBox="true"/>
          <p:nvPr/>
        </p:nvSpPr>
        <p:spPr>
          <a:xfrm rot="0">
            <a:off x="12503533" y="5288369"/>
            <a:ext cx="2381463" cy="1357513"/>
          </a:xfrm>
          <a:prstGeom prst="rect">
            <a:avLst/>
          </a:prstGeom>
        </p:spPr>
        <p:txBody>
          <a:bodyPr anchor="t" rtlCol="false" tIns="0" lIns="0" bIns="0" rIns="0">
            <a:spAutoFit/>
          </a:bodyPr>
          <a:lstStyle/>
          <a:p>
            <a:pPr algn="ctr">
              <a:lnSpc>
                <a:spcPts val="4451"/>
              </a:lnSpc>
            </a:pPr>
            <a:r>
              <a:rPr lang="en-US" sz="3179" b="true">
                <a:solidFill>
                  <a:srgbClr val="FFFFFF"/>
                </a:solidFill>
                <a:latin typeface="Cakerolli Bold"/>
                <a:ea typeface="Cakerolli Bold"/>
                <a:cs typeface="Cakerolli Bold"/>
                <a:sym typeface="Cakerolli Bold"/>
              </a:rPr>
              <a:t>1.3. Xác lập dự án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4" id="34"/>
          <p:cNvGrpSpPr/>
          <p:nvPr/>
        </p:nvGrpSpPr>
        <p:grpSpPr>
          <a:xfrm rot="0">
            <a:off x="3283789" y="3980802"/>
            <a:ext cx="12437228" cy="4695513"/>
            <a:chOff x="0" y="0"/>
            <a:chExt cx="16582970" cy="6260684"/>
          </a:xfrm>
        </p:grpSpPr>
        <p:grpSp>
          <p:nvGrpSpPr>
            <p:cNvPr name="Group 35" id="35"/>
            <p:cNvGrpSpPr/>
            <p:nvPr/>
          </p:nvGrpSpPr>
          <p:grpSpPr>
            <a:xfrm rot="0">
              <a:off x="0" y="0"/>
              <a:ext cx="16582970" cy="6260684"/>
              <a:chOff x="0" y="0"/>
              <a:chExt cx="2381666" cy="899167"/>
            </a:xfrm>
          </p:grpSpPr>
          <p:sp>
            <p:nvSpPr>
              <p:cNvPr name="Freeform 36" id="36"/>
              <p:cNvSpPr/>
              <p:nvPr/>
            </p:nvSpPr>
            <p:spPr>
              <a:xfrm flipH="false" flipV="false" rot="0">
                <a:off x="0" y="0"/>
                <a:ext cx="2381666" cy="899167"/>
              </a:xfrm>
              <a:custGeom>
                <a:avLst/>
                <a:gdLst/>
                <a:ahLst/>
                <a:cxnLst/>
                <a:rect r="r" b="b" t="t" l="l"/>
                <a:pathLst>
                  <a:path h="899167" w="2381666">
                    <a:moveTo>
                      <a:pt x="0" y="0"/>
                    </a:moveTo>
                    <a:lnTo>
                      <a:pt x="2381666" y="0"/>
                    </a:lnTo>
                    <a:lnTo>
                      <a:pt x="2381666" y="899167"/>
                    </a:lnTo>
                    <a:lnTo>
                      <a:pt x="0" y="899167"/>
                    </a:lnTo>
                    <a:close/>
                  </a:path>
                </a:pathLst>
              </a:custGeom>
              <a:solidFill>
                <a:srgbClr val="485B90"/>
              </a:solidFill>
            </p:spPr>
          </p:sp>
          <p:sp>
            <p:nvSpPr>
              <p:cNvPr name="TextBox 37" id="37"/>
              <p:cNvSpPr txBox="true"/>
              <p:nvPr/>
            </p:nvSpPr>
            <p:spPr>
              <a:xfrm>
                <a:off x="0" y="-238125"/>
                <a:ext cx="2381666" cy="1137292"/>
              </a:xfrm>
              <a:prstGeom prst="rect">
                <a:avLst/>
              </a:prstGeom>
            </p:spPr>
            <p:txBody>
              <a:bodyPr anchor="ctr" rtlCol="false" tIns="50800" lIns="50800" bIns="50800" rIns="50800"/>
              <a:lstStyle/>
              <a:p>
                <a:pPr algn="ctr">
                  <a:lnSpc>
                    <a:spcPts val="3331"/>
                  </a:lnSpc>
                </a:pPr>
              </a:p>
            </p:txBody>
          </p:sp>
        </p:grpSp>
        <p:sp>
          <p:nvSpPr>
            <p:cNvPr name="TextBox 38" id="38"/>
            <p:cNvSpPr txBox="true"/>
            <p:nvPr/>
          </p:nvSpPr>
          <p:spPr>
            <a:xfrm rot="0">
              <a:off x="2821865" y="4809212"/>
              <a:ext cx="10948608" cy="1061163"/>
            </a:xfrm>
            <a:prstGeom prst="rect">
              <a:avLst/>
            </a:prstGeom>
          </p:spPr>
          <p:txBody>
            <a:bodyPr anchor="t" rtlCol="false" tIns="0" lIns="0" bIns="0" rIns="0">
              <a:spAutoFit/>
            </a:bodyPr>
            <a:lstStyle/>
            <a:p>
              <a:pPr algn="ctr">
                <a:lnSpc>
                  <a:spcPts val="4967"/>
                </a:lnSpc>
              </a:pPr>
            </a:p>
          </p:txBody>
        </p:sp>
      </p:grpSp>
      <p:sp>
        <p:nvSpPr>
          <p:cNvPr name="TextBox 39" id="39"/>
          <p:cNvSpPr txBox="true"/>
          <p:nvPr/>
        </p:nvSpPr>
        <p:spPr>
          <a:xfrm rot="0">
            <a:off x="1738395" y="964940"/>
            <a:ext cx="1062521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1: Khảo sát hệ thống </a:t>
            </a:r>
          </a:p>
        </p:txBody>
      </p:sp>
      <p:sp>
        <p:nvSpPr>
          <p:cNvPr name="TextBox 40" id="40"/>
          <p:cNvSpPr txBox="true"/>
          <p:nvPr/>
        </p:nvSpPr>
        <p:spPr>
          <a:xfrm rot="0">
            <a:off x="3031277" y="2317626"/>
            <a:ext cx="4111105" cy="792936"/>
          </a:xfrm>
          <a:prstGeom prst="rect">
            <a:avLst/>
          </a:prstGeom>
        </p:spPr>
        <p:txBody>
          <a:bodyPr anchor="t" rtlCol="false" tIns="0" lIns="0" bIns="0" rIns="0">
            <a:spAutoFit/>
          </a:bodyPr>
          <a:lstStyle/>
          <a:p>
            <a:pPr algn="ctr">
              <a:lnSpc>
                <a:spcPts val="4794"/>
              </a:lnSpc>
            </a:pPr>
            <a:r>
              <a:rPr lang="en-US" sz="3073" b="true">
                <a:solidFill>
                  <a:srgbClr val="E080B4"/>
                </a:solidFill>
                <a:latin typeface="Cakerolli Bold"/>
                <a:ea typeface="Cakerolli Bold"/>
                <a:cs typeface="Cakerolli Bold"/>
                <a:sym typeface="Cakerolli Bold"/>
              </a:rPr>
              <a:t>1.1. Địa điểm khảo sát</a:t>
            </a:r>
          </a:p>
        </p:txBody>
      </p:sp>
      <p:sp>
        <p:nvSpPr>
          <p:cNvPr name="TextBox 41" id="41"/>
          <p:cNvSpPr txBox="true"/>
          <p:nvPr/>
        </p:nvSpPr>
        <p:spPr>
          <a:xfrm rot="0">
            <a:off x="3585397" y="3969985"/>
            <a:ext cx="11798808" cy="443801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Cakerolli"/>
                <a:ea typeface="Cakerolli"/>
                <a:cs typeface="Cakerolli"/>
                <a:sym typeface="Cakerolli"/>
              </a:rPr>
              <a:t>Để thực hiện khảo sát cho đề tài "Quản Lý Nhà Hàng", chúng em đã chọn Nhà Hàng Quốc Hương: Nổi tiếng với thực đơn đa dạng và dịch vụ tốt, nhà hàng này thu hút nhiều khách hàng và có quy mô vừa. Chúng em sẽ khảo sát quy trình đặt bàn và thanh toán của nhà hàng, nhằm thu thập thông tin và đánh giá thực tế về quy trình hoạt động cũng như nhu cầu của khách hàng.</a:t>
            </a:r>
            <a:r>
              <a:rPr lang="en-US" sz="3399">
                <a:solidFill>
                  <a:srgbClr val="FFFFFF"/>
                </a:solidFill>
                <a:latin typeface="Cakerolli"/>
                <a:ea typeface="Cakerolli"/>
                <a:cs typeface="Cakerolli"/>
                <a:sym typeface="Cakerolli"/>
              </a:rPr>
              <a: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3764518" y="7273724"/>
            <a:ext cx="2729260" cy="277888"/>
          </a:xfrm>
          <a:custGeom>
            <a:avLst/>
            <a:gdLst/>
            <a:ahLst/>
            <a:cxnLst/>
            <a:rect r="r" b="b" t="t" l="l"/>
            <a:pathLst>
              <a:path h="277888" w="2729260">
                <a:moveTo>
                  <a:pt x="0" y="0"/>
                </a:moveTo>
                <a:lnTo>
                  <a:pt x="2729260" y="0"/>
                </a:lnTo>
                <a:lnTo>
                  <a:pt x="2729260" y="277889"/>
                </a:lnTo>
                <a:lnTo>
                  <a:pt x="0" y="27788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5" id="35"/>
          <p:cNvSpPr/>
          <p:nvPr/>
        </p:nvSpPr>
        <p:spPr>
          <a:xfrm flipH="false" flipV="false" rot="5400000">
            <a:off x="3657599" y="3491095"/>
            <a:ext cx="2929849" cy="4439165"/>
          </a:xfrm>
          <a:custGeom>
            <a:avLst/>
            <a:gdLst/>
            <a:ahLst/>
            <a:cxnLst/>
            <a:rect r="r" b="b" t="t" l="l"/>
            <a:pathLst>
              <a:path h="4439165" w="2929849">
                <a:moveTo>
                  <a:pt x="0" y="0"/>
                </a:moveTo>
                <a:lnTo>
                  <a:pt x="2929849" y="0"/>
                </a:lnTo>
                <a:lnTo>
                  <a:pt x="2929849" y="4439165"/>
                </a:lnTo>
                <a:lnTo>
                  <a:pt x="0" y="443916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6" id="36"/>
          <p:cNvSpPr txBox="true"/>
          <p:nvPr/>
        </p:nvSpPr>
        <p:spPr>
          <a:xfrm rot="0">
            <a:off x="3289349" y="4347890"/>
            <a:ext cx="3679598" cy="2330288"/>
          </a:xfrm>
          <a:prstGeom prst="rect">
            <a:avLst/>
          </a:prstGeom>
        </p:spPr>
        <p:txBody>
          <a:bodyPr anchor="t" rtlCol="false" tIns="0" lIns="0" bIns="0" rIns="0">
            <a:spAutoFit/>
          </a:bodyPr>
          <a:lstStyle/>
          <a:p>
            <a:pPr algn="ctr">
              <a:lnSpc>
                <a:spcPts val="5405"/>
              </a:lnSpc>
            </a:pPr>
            <a:r>
              <a:rPr lang="en-US" sz="3861" b="true">
                <a:solidFill>
                  <a:srgbClr val="3BAB64"/>
                </a:solidFill>
                <a:latin typeface="Cakerolli Bold"/>
                <a:ea typeface="Cakerolli Bold"/>
                <a:cs typeface="Cakerolli Bold"/>
                <a:sym typeface="Cakerolli Bold"/>
              </a:rPr>
              <a:t>1.2.1.1. Mô tả hoạt động của cửa hàng</a:t>
            </a:r>
          </a:p>
        </p:txBody>
      </p:sp>
      <p:sp>
        <p:nvSpPr>
          <p:cNvPr name="TextBox 37" id="37"/>
          <p:cNvSpPr txBox="true"/>
          <p:nvPr/>
        </p:nvSpPr>
        <p:spPr>
          <a:xfrm rot="0">
            <a:off x="6493778" y="-337729"/>
            <a:ext cx="9679704"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Bold"/>
                <a:ea typeface="Cakerolli Bold"/>
                <a:cs typeface="Cakerolli Bold"/>
                <a:sym typeface="Cakerolli Bold"/>
              </a:rPr>
              <a:t>Chương 1: Khảo sát hệ thống</a:t>
            </a:r>
          </a:p>
        </p:txBody>
      </p:sp>
      <p:sp>
        <p:nvSpPr>
          <p:cNvPr name="Freeform 38" id="38"/>
          <p:cNvSpPr/>
          <p:nvPr/>
        </p:nvSpPr>
        <p:spPr>
          <a:xfrm flipH="false" flipV="true" rot="5400000">
            <a:off x="11903198" y="3670630"/>
            <a:ext cx="2929849" cy="4439165"/>
          </a:xfrm>
          <a:custGeom>
            <a:avLst/>
            <a:gdLst/>
            <a:ahLst/>
            <a:cxnLst/>
            <a:rect r="r" b="b" t="t" l="l"/>
            <a:pathLst>
              <a:path h="4439165" w="2929849">
                <a:moveTo>
                  <a:pt x="0" y="4439166"/>
                </a:moveTo>
                <a:lnTo>
                  <a:pt x="2929849" y="4439166"/>
                </a:lnTo>
                <a:lnTo>
                  <a:pt x="2929849" y="0"/>
                </a:lnTo>
                <a:lnTo>
                  <a:pt x="0" y="0"/>
                </a:lnTo>
                <a:lnTo>
                  <a:pt x="0" y="4439166"/>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9" id="39"/>
          <p:cNvSpPr/>
          <p:nvPr/>
        </p:nvSpPr>
        <p:spPr>
          <a:xfrm flipH="false" flipV="false" rot="0">
            <a:off x="11788020" y="7510791"/>
            <a:ext cx="2729260" cy="277888"/>
          </a:xfrm>
          <a:custGeom>
            <a:avLst/>
            <a:gdLst/>
            <a:ahLst/>
            <a:cxnLst/>
            <a:rect r="r" b="b" t="t" l="l"/>
            <a:pathLst>
              <a:path h="277888" w="2729260">
                <a:moveTo>
                  <a:pt x="0" y="0"/>
                </a:moveTo>
                <a:lnTo>
                  <a:pt x="2729260" y="0"/>
                </a:lnTo>
                <a:lnTo>
                  <a:pt x="2729260" y="277888"/>
                </a:lnTo>
                <a:lnTo>
                  <a:pt x="0" y="27788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40" id="40"/>
          <p:cNvSpPr txBox="true"/>
          <p:nvPr/>
        </p:nvSpPr>
        <p:spPr>
          <a:xfrm rot="0">
            <a:off x="11684783" y="4540656"/>
            <a:ext cx="3366679" cy="2086904"/>
          </a:xfrm>
          <a:prstGeom prst="rect">
            <a:avLst/>
          </a:prstGeom>
        </p:spPr>
        <p:txBody>
          <a:bodyPr anchor="t" rtlCol="false" tIns="0" lIns="0" bIns="0" rIns="0">
            <a:spAutoFit/>
          </a:bodyPr>
          <a:lstStyle/>
          <a:p>
            <a:pPr algn="ctr">
              <a:lnSpc>
                <a:spcPts val="6913"/>
              </a:lnSpc>
            </a:pPr>
            <a:r>
              <a:rPr lang="en-US" sz="4938" b="true">
                <a:solidFill>
                  <a:srgbClr val="E080B4"/>
                </a:solidFill>
                <a:latin typeface="Cakerolli Bold"/>
                <a:ea typeface="Cakerolli Bold"/>
                <a:cs typeface="Cakerolli Bold"/>
                <a:sym typeface="Cakerolli Bold"/>
              </a:rPr>
              <a:t>1.2.1.2. Thực trạng </a:t>
            </a:r>
          </a:p>
        </p:txBody>
      </p:sp>
      <p:sp>
        <p:nvSpPr>
          <p:cNvPr name="TextBox 41" id="41"/>
          <p:cNvSpPr txBox="true"/>
          <p:nvPr/>
        </p:nvSpPr>
        <p:spPr>
          <a:xfrm rot="0">
            <a:off x="3289349" y="1437590"/>
            <a:ext cx="9735789" cy="8375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Cakerolli Bold"/>
                <a:ea typeface="Cakerolli Bold"/>
                <a:cs typeface="Cakerolli Bold"/>
                <a:sym typeface="Cakerolli Bold"/>
              </a:rPr>
              <a:t>1.2. Khảo sát hiện trạng và thu thập thông tin</a:t>
            </a:r>
            <a:r>
              <a:rPr lang="en-US" sz="3399">
                <a:solidFill>
                  <a:srgbClr val="000000"/>
                </a:solidFill>
                <a:latin typeface="Cakerolli"/>
                <a:ea typeface="Cakerolli"/>
                <a:cs typeface="Cakerolli"/>
                <a:sym typeface="Cakerolli"/>
              </a:rPr>
              <a:t> </a:t>
            </a:r>
          </a:p>
        </p:txBody>
      </p:sp>
      <p:sp>
        <p:nvSpPr>
          <p:cNvPr name="TextBox 42" id="42"/>
          <p:cNvSpPr txBox="true"/>
          <p:nvPr/>
        </p:nvSpPr>
        <p:spPr>
          <a:xfrm rot="0">
            <a:off x="1529824" y="2679746"/>
            <a:ext cx="4963954" cy="8375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Cakerolli Bold"/>
                <a:ea typeface="Cakerolli Bold"/>
                <a:cs typeface="Cakerolli Bold"/>
                <a:sym typeface="Cakerolli Bold"/>
              </a:rPr>
              <a:t>1.2.1. Khảo sát hiện trạng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7142382" y="-254087"/>
            <a:ext cx="9242726" cy="1509776"/>
          </a:xfrm>
          <a:prstGeom prst="rect">
            <a:avLst/>
          </a:prstGeom>
        </p:spPr>
        <p:txBody>
          <a:bodyPr anchor="t" rtlCol="false" tIns="0" lIns="0" bIns="0" rIns="0">
            <a:spAutoFit/>
          </a:bodyPr>
          <a:lstStyle/>
          <a:p>
            <a:pPr algn="l">
              <a:lnSpc>
                <a:spcPts val="4968"/>
              </a:lnSpc>
            </a:pPr>
            <a:r>
              <a:rPr lang="en-US" sz="3548" b="true">
                <a:solidFill>
                  <a:srgbClr val="485B90"/>
                </a:solidFill>
                <a:latin typeface="Cakerolli Ultra-Bold"/>
                <a:ea typeface="Cakerolli Ultra-Bold"/>
                <a:cs typeface="Cakerolli Ultra-Bold"/>
                <a:sym typeface="Cakerolli Ultra-Bold"/>
              </a:rPr>
              <a:t>1.2. Khảo sát hiện trạng và thu thập thông tin</a:t>
            </a:r>
          </a:p>
          <a:p>
            <a:pPr algn="l">
              <a:lnSpc>
                <a:spcPts val="4968"/>
              </a:lnSpc>
            </a:pPr>
          </a:p>
        </p:txBody>
      </p:sp>
      <p:sp>
        <p:nvSpPr>
          <p:cNvPr name="TextBox 35" id="35"/>
          <p:cNvSpPr txBox="true"/>
          <p:nvPr/>
        </p:nvSpPr>
        <p:spPr>
          <a:xfrm rot="0">
            <a:off x="1262541" y="2082369"/>
            <a:ext cx="16933758" cy="7620525"/>
          </a:xfrm>
          <a:prstGeom prst="rect">
            <a:avLst/>
          </a:prstGeom>
        </p:spPr>
        <p:txBody>
          <a:bodyPr anchor="t" rtlCol="false" tIns="0" lIns="0" bIns="0" rIns="0">
            <a:spAutoFit/>
          </a:bodyPr>
          <a:lstStyle/>
          <a:p>
            <a:pPr algn="just">
              <a:lnSpc>
                <a:spcPts val="3359"/>
              </a:lnSpc>
            </a:pPr>
            <a:r>
              <a:rPr lang="en-US" sz="1671" b="true">
                <a:solidFill>
                  <a:srgbClr val="2D2A29"/>
                </a:solidFill>
                <a:latin typeface="Cakerolli Semi-Bold"/>
                <a:ea typeface="Cakerolli Semi-Bold"/>
                <a:cs typeface="Cakerolli Semi-Bold"/>
                <a:sym typeface="Cakerolli Semi-Bold"/>
              </a:rPr>
              <a:t>Nhà hàng Quốc Hương chuyên phục vụ các món ăn truyền thống với thực đơn đa dạng, từ món khai vị đến món chính và tráng miệng. Hoạt động chính của nhà hàng bao gồm tiếp nhận đặt bàn, phục vụ thực khách và chuẩn bị các món ăn từ nguyên liệu tươi ngon. Nhân viên phục vụ có trách nhiệm giới thiệu thực đơn, ghi nhận đơn đặt hàng và phục vụ món ăn. Bên cạnh đó, họ sử dụng công nghệ để quản lý đặt bàn và thanh toán, giúp tối ưu hóa quy trình phục vụ</a:t>
            </a:r>
          </a:p>
          <a:p>
            <a:pPr algn="just">
              <a:lnSpc>
                <a:spcPts val="3359"/>
              </a:lnSpc>
            </a:pPr>
            <a:r>
              <a:rPr lang="en-US" sz="1671" b="true">
                <a:solidFill>
                  <a:srgbClr val="2D2A29"/>
                </a:solidFill>
                <a:latin typeface="Cakerolli Semi-Bold"/>
                <a:ea typeface="Cakerolli Semi-Bold"/>
                <a:cs typeface="Cakerolli Semi-Bold"/>
                <a:sym typeface="Cakerolli Semi-Bold"/>
              </a:rPr>
              <a:t> + Quản lý bàn: Chức năng quản lý bàn cho phép nhân viên nhà hàng theo dõi, điều chỉnh và tối ưu hóa việc sử dụng các bàn ăn trong nhà hàng. Điều này giúp đảm bảo rằng không gian được sử dụng hiệu quả và khách hàng có trải nghiệm tốt nhất. Thông tin quản lý bàn bao gồm: mã bàn, số bàn, ngày đặt, tên     khách hàng, số điện thoại, ngày đặt.</a:t>
            </a:r>
          </a:p>
          <a:p>
            <a:pPr algn="just">
              <a:lnSpc>
                <a:spcPts val="3359"/>
              </a:lnSpc>
            </a:pPr>
            <a:r>
              <a:rPr lang="en-US" sz="1671" b="true">
                <a:solidFill>
                  <a:srgbClr val="2D2A29"/>
                </a:solidFill>
                <a:latin typeface="Cakerolli Semi-Bold"/>
                <a:ea typeface="Cakerolli Semi-Bold"/>
                <a:cs typeface="Cakerolli Semi-Bold"/>
                <a:sym typeface="Cakerolli Semi-Bold"/>
              </a:rPr>
              <a:t> + Quản lý khách hàng: cho phép nhà hàng ghi nhận thông tin cá nhân và lịch sử đặt bàn của khách hàng, từ đó theo dõi và phân tích thói quen tiêu dùng. Thông tin bao gồm: Mã khách hàng, tên khách hàng, địa chỉ, số điện thoại.</a:t>
            </a:r>
          </a:p>
          <a:p>
            <a:pPr algn="just">
              <a:lnSpc>
                <a:spcPts val="2986"/>
              </a:lnSpc>
            </a:pPr>
            <a:r>
              <a:rPr lang="en-US" sz="1485" b="true">
                <a:solidFill>
                  <a:srgbClr val="2D2A29"/>
                </a:solidFill>
                <a:latin typeface="Cakerolli Semi-Bold"/>
                <a:ea typeface="Cakerolli Semi-Bold"/>
                <a:cs typeface="Cakerolli Semi-Bold"/>
                <a:sym typeface="Cakerolli Semi-Bold"/>
              </a:rPr>
              <a:t> + Danh mục món ăn: người dùng truy cập nhanh chóng vào thực đơn, hiển thị tất cả các món ăn và đồ uống kèm theo hình ảnh, mô tả và giá cả. Chức năng này không chỉ giúp khách hàng lựa chọn món ăn dễ dàng mà còn hỗ trợ nhân viên trong việc quản lý thực đơn một cách hiệu quả.      Thông tin danh mục món ăn bao gồm: mã món, tên món, loại món, đơn vị tính, giá món.</a:t>
            </a:r>
          </a:p>
          <a:p>
            <a:pPr algn="just">
              <a:lnSpc>
                <a:spcPts val="3359"/>
              </a:lnSpc>
            </a:pPr>
            <a:r>
              <a:rPr lang="en-US" sz="1671" b="true">
                <a:solidFill>
                  <a:srgbClr val="2D2A29"/>
                </a:solidFill>
                <a:latin typeface="Cakerolli Semi-Bold"/>
                <a:ea typeface="Cakerolli Semi-Bold"/>
                <a:cs typeface="Cakerolli Semi-Bold"/>
                <a:sym typeface="Cakerolli Semi-Bold"/>
              </a:rPr>
              <a:t> + Phiếu đặt đồ ăn: là tài liệu ghi lại các món ăn mà khách hàng đã chọn và xác nhận để phục vụ. Phiếu này bao gồm thông tin chi tiết như: mã phiếu, tên món, số lượng, ghi chú và tổng giá trị đơn hàng. Nó giúp nhân viên dễ dàng theo dõi và chuẩn bị món ăn, đồng thời đảm bảo rằng khách hàng nhận được đúng món đã đặt.</a:t>
            </a:r>
          </a:p>
          <a:p>
            <a:pPr algn="just">
              <a:lnSpc>
                <a:spcPts val="3359"/>
              </a:lnSpc>
            </a:pPr>
            <a:r>
              <a:rPr lang="en-US" sz="1671" b="true">
                <a:solidFill>
                  <a:srgbClr val="2D2A29"/>
                </a:solidFill>
                <a:latin typeface="Cakerolli Semi-Bold"/>
                <a:ea typeface="Cakerolli Semi-Bold"/>
                <a:cs typeface="Cakerolli Semi-Bold"/>
                <a:sym typeface="Cakerolli Semi-Bold"/>
              </a:rPr>
              <a:t> + Hóa đơn thanh toán: là tài liệu ghi nhận chi tiết các khoản chi phí mà khách hàng phải trả sau khi sử dụng dịch vụ tại nhà hàng. Hóa đơn bao gồm thông tin: mã hóa đơn, giá trị từng món, thuế, và tổng số tiền thanh toán. Nó không chỉ giúp khách hàng kiểm tra và xác nhận các khoản chi mà còn là bằng chứng giao dịch cần thiết cho mục đích kế toán và quản lý.</a:t>
            </a:r>
          </a:p>
          <a:p>
            <a:pPr algn="just">
              <a:lnSpc>
                <a:spcPts val="3359"/>
              </a:lnSpc>
            </a:pPr>
            <a:r>
              <a:rPr lang="en-US" sz="1671" b="true">
                <a:solidFill>
                  <a:srgbClr val="2D2A29"/>
                </a:solidFill>
                <a:latin typeface="Cakerolli Semi-Bold"/>
                <a:ea typeface="Cakerolli Semi-Bold"/>
                <a:cs typeface="Cakerolli Semi-Bold"/>
                <a:sym typeface="Cakerolli Semi-Bold"/>
              </a:rPr>
              <a:t> + Báo cáo, thống kê: cho phép quản lý theo dõi doanh thu theo thời gian, tình trạng đặt bàn, số lượng khách hàng, và đánh giá từ khách hàng. Các báo cáo này giúp phân tích xu hướng tiêu dùng, nhận diện cơ hội cải thiện dịch vụ, và tối ưu hóa chi phí. Thông qua đó, nhà hàng có thể đưa ra các quyết định chiến lược hiệu quả, nâng cao trải nghiệm khách hàng và tăng trưởng doanh thu.</a:t>
            </a:r>
          </a:p>
          <a:p>
            <a:pPr algn="just">
              <a:lnSpc>
                <a:spcPts val="3359"/>
              </a:lnSpc>
            </a:pPr>
          </a:p>
        </p:txBody>
      </p:sp>
      <p:sp>
        <p:nvSpPr>
          <p:cNvPr name="TextBox 36" id="36"/>
          <p:cNvSpPr txBox="true"/>
          <p:nvPr/>
        </p:nvSpPr>
        <p:spPr>
          <a:xfrm rot="0">
            <a:off x="6037009" y="348401"/>
            <a:ext cx="4963954" cy="8375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Cakerolli Bold"/>
                <a:ea typeface="Cakerolli Bold"/>
                <a:cs typeface="Cakerolli Bold"/>
                <a:sym typeface="Cakerolli Bold"/>
              </a:rPr>
              <a:t>1.2.1. Khảo sát hiện trạng </a:t>
            </a:r>
          </a:p>
        </p:txBody>
      </p:sp>
      <p:sp>
        <p:nvSpPr>
          <p:cNvPr name="TextBox 37" id="37"/>
          <p:cNvSpPr txBox="true"/>
          <p:nvPr/>
        </p:nvSpPr>
        <p:spPr>
          <a:xfrm rot="0">
            <a:off x="1998446" y="937497"/>
            <a:ext cx="10287872" cy="965378"/>
          </a:xfrm>
          <a:prstGeom prst="rect">
            <a:avLst/>
          </a:prstGeom>
        </p:spPr>
        <p:txBody>
          <a:bodyPr anchor="t" rtlCol="false" tIns="0" lIns="0" bIns="0" rIns="0">
            <a:spAutoFit/>
          </a:bodyPr>
          <a:lstStyle/>
          <a:p>
            <a:pPr algn="ctr">
              <a:lnSpc>
                <a:spcPts val="5405"/>
              </a:lnSpc>
            </a:pPr>
            <a:r>
              <a:rPr lang="en-US" sz="3861" b="true">
                <a:solidFill>
                  <a:srgbClr val="3BAB64"/>
                </a:solidFill>
                <a:latin typeface="Cakerolli Bold"/>
                <a:ea typeface="Cakerolli Bold"/>
                <a:cs typeface="Cakerolli Bold"/>
                <a:sym typeface="Cakerolli Bold"/>
              </a:rPr>
              <a:t>1.2.1.1. Mô tả hoạt động của cửa hàng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3604457" y="3760307"/>
            <a:ext cx="14725239" cy="5497993"/>
          </a:xfrm>
          <a:prstGeom prst="rect">
            <a:avLst/>
          </a:prstGeom>
        </p:spPr>
        <p:txBody>
          <a:bodyPr anchor="t" rtlCol="false" tIns="0" lIns="0" bIns="0" rIns="0">
            <a:spAutoFit/>
          </a:bodyPr>
          <a:lstStyle/>
          <a:p>
            <a:pPr algn="l" marL="513765" indent="-256883" lvl="1">
              <a:lnSpc>
                <a:spcPts val="4759"/>
              </a:lnSpc>
              <a:buFont typeface="Arial"/>
              <a:buChar char="•"/>
            </a:pPr>
            <a:r>
              <a:rPr lang="en-US" b="true" sz="2379">
                <a:solidFill>
                  <a:srgbClr val="3BAB64"/>
                </a:solidFill>
                <a:latin typeface="Cakerolli Semi-Bold"/>
                <a:ea typeface="Cakerolli Semi-Bold"/>
                <a:cs typeface="Cakerolli Semi-Bold"/>
                <a:sym typeface="Cakerolli Semi-Bold"/>
              </a:rPr>
              <a:t>Cạnh tranh khốc liệt: Nhiều nhà hàng phải đối mặt với sự cạnh tranh từ các thương hiệu khác và mô hình ăn uống mới.</a:t>
            </a:r>
          </a:p>
          <a:p>
            <a:pPr algn="l" marL="513765" indent="-256883" lvl="1">
              <a:lnSpc>
                <a:spcPts val="4759"/>
              </a:lnSpc>
              <a:buFont typeface="Arial"/>
              <a:buChar char="•"/>
            </a:pPr>
            <a:r>
              <a:rPr lang="en-US" b="true" sz="2379">
                <a:solidFill>
                  <a:srgbClr val="3BAB64"/>
                </a:solidFill>
                <a:latin typeface="Cakerolli Semi-Bold"/>
                <a:ea typeface="Cakerolli Semi-Bold"/>
                <a:cs typeface="Cakerolli Semi-Bold"/>
                <a:sym typeface="Cakerolli Semi-Bold"/>
              </a:rPr>
              <a:t>Thay đổi xu hướng tiêu dùng: Khách hàng ngày càng đòi hỏi cao về chất lượng thực phẩm và dịch vụ.</a:t>
            </a:r>
          </a:p>
          <a:p>
            <a:pPr algn="l" marL="513765" indent="-256883" lvl="1">
              <a:lnSpc>
                <a:spcPts val="4759"/>
              </a:lnSpc>
              <a:buFont typeface="Arial"/>
              <a:buChar char="•"/>
            </a:pPr>
            <a:r>
              <a:rPr lang="en-US" b="true" sz="2379">
                <a:solidFill>
                  <a:srgbClr val="3BAB64"/>
                </a:solidFill>
                <a:latin typeface="Cakerolli Semi-Bold"/>
                <a:ea typeface="Cakerolli Semi-Bold"/>
                <a:cs typeface="Cakerolli Semi-Bold"/>
                <a:sym typeface="Cakerolli Semi-Bold"/>
              </a:rPr>
              <a:t>Ứng dụng công nghệ: Sử dụng hệ thống đặt bàn trực tuyến và quản lý đơn hàng để nâng cao trải nghiệm khách hàng.</a:t>
            </a:r>
          </a:p>
          <a:p>
            <a:pPr algn="l" marL="535355" indent="-267677" lvl="1">
              <a:lnSpc>
                <a:spcPts val="4959"/>
              </a:lnSpc>
              <a:buFont typeface="Arial"/>
              <a:buChar char="•"/>
            </a:pPr>
            <a:r>
              <a:rPr lang="en-US" b="true" sz="2479">
                <a:solidFill>
                  <a:srgbClr val="3BAB64"/>
                </a:solidFill>
                <a:latin typeface="Cakerolli Semi-Bold"/>
                <a:ea typeface="Cakerolli Semi-Bold"/>
                <a:cs typeface="Cakerolli Semi-Bold"/>
                <a:sym typeface="Cakerolli Semi-Bold"/>
              </a:rPr>
              <a:t>Vấn đề nhân sự: Khó khăn trong việc tuyển dụng và giữ chân nhân viên chất lượng.</a:t>
            </a:r>
          </a:p>
          <a:p>
            <a:pPr algn="l" marL="513765" indent="-256883" lvl="1">
              <a:lnSpc>
                <a:spcPts val="4759"/>
              </a:lnSpc>
              <a:buFont typeface="Arial"/>
              <a:buChar char="•"/>
            </a:pPr>
            <a:r>
              <a:rPr lang="en-US" b="true" sz="2379">
                <a:solidFill>
                  <a:srgbClr val="3BAB64"/>
                </a:solidFill>
                <a:latin typeface="Cakerolli Semi-Bold"/>
                <a:ea typeface="Cakerolli Semi-Bold"/>
                <a:cs typeface="Cakerolli Semi-Bold"/>
                <a:sym typeface="Cakerolli Semi-Bold"/>
              </a:rPr>
              <a:t>Chi phí nguyên liệu: Tăng giá nguyên liệu ảnh hưởng đến lợi nhuận và giá cả món ăn.</a:t>
            </a:r>
          </a:p>
          <a:p>
            <a:pPr algn="l" marL="513765" indent="-256883" lvl="1">
              <a:lnSpc>
                <a:spcPts val="4759"/>
              </a:lnSpc>
              <a:buFont typeface="Arial"/>
              <a:buChar char="•"/>
            </a:pPr>
            <a:r>
              <a:rPr lang="en-US" b="true" sz="2379">
                <a:solidFill>
                  <a:srgbClr val="3BAB64"/>
                </a:solidFill>
                <a:latin typeface="Cakerolli Semi-Bold"/>
                <a:ea typeface="Cakerolli Semi-Bold"/>
                <a:cs typeface="Cakerolli Semi-Bold"/>
                <a:sym typeface="Cakerolli Semi-Bold"/>
              </a:rPr>
              <a:t>Chất lượng dịch vụ: Cần duy trì và cải thiện chất lượng dịch vụ để giữ chân khách hàng.</a:t>
            </a:r>
          </a:p>
          <a:p>
            <a:pPr algn="l">
              <a:lnSpc>
                <a:spcPts val="4159"/>
              </a:lnSpc>
            </a:pPr>
          </a:p>
        </p:txBody>
      </p:sp>
      <p:sp>
        <p:nvSpPr>
          <p:cNvPr name="Freeform 35" id="35"/>
          <p:cNvSpPr/>
          <p:nvPr/>
        </p:nvSpPr>
        <p:spPr>
          <a:xfrm flipH="false" flipV="false" rot="323603">
            <a:off x="2906779" y="4122126"/>
            <a:ext cx="453044" cy="569458"/>
          </a:xfrm>
          <a:custGeom>
            <a:avLst/>
            <a:gdLst/>
            <a:ahLst/>
            <a:cxnLst/>
            <a:rect r="r" b="b" t="t" l="l"/>
            <a:pathLst>
              <a:path h="569458" w="453044">
                <a:moveTo>
                  <a:pt x="0" y="0"/>
                </a:moveTo>
                <a:lnTo>
                  <a:pt x="453044" y="0"/>
                </a:lnTo>
                <a:lnTo>
                  <a:pt x="453044" y="569458"/>
                </a:lnTo>
                <a:lnTo>
                  <a:pt x="0" y="569458"/>
                </a:lnTo>
                <a:lnTo>
                  <a:pt x="0" y="0"/>
                </a:lnTo>
                <a:close/>
              </a:path>
            </a:pathLst>
          </a:custGeom>
          <a:blipFill>
            <a:blip r:embed="rId14">
              <a:extLst>
                <a:ext uri="{96DAC541-7B7A-43D3-8B79-37D633B846F1}">
                  <asvg:svgBlip xmlns:asvg="http://schemas.microsoft.com/office/drawing/2016/SVG/main" r:embed="rId15"/>
                </a:ext>
              </a:extLst>
            </a:blip>
            <a:stretch>
              <a:fillRect l="-127975" t="-28590" r="-17420" b="-104172"/>
            </a:stretch>
          </a:blipFill>
        </p:spPr>
      </p:sp>
      <p:sp>
        <p:nvSpPr>
          <p:cNvPr name="Freeform 36" id="36"/>
          <p:cNvSpPr/>
          <p:nvPr/>
        </p:nvSpPr>
        <p:spPr>
          <a:xfrm flipH="false" flipV="false" rot="323603">
            <a:off x="2892922" y="5179812"/>
            <a:ext cx="453044" cy="569458"/>
          </a:xfrm>
          <a:custGeom>
            <a:avLst/>
            <a:gdLst/>
            <a:ahLst/>
            <a:cxnLst/>
            <a:rect r="r" b="b" t="t" l="l"/>
            <a:pathLst>
              <a:path h="569458" w="453044">
                <a:moveTo>
                  <a:pt x="0" y="0"/>
                </a:moveTo>
                <a:lnTo>
                  <a:pt x="453044" y="0"/>
                </a:lnTo>
                <a:lnTo>
                  <a:pt x="453044" y="569458"/>
                </a:lnTo>
                <a:lnTo>
                  <a:pt x="0" y="569458"/>
                </a:lnTo>
                <a:lnTo>
                  <a:pt x="0" y="0"/>
                </a:lnTo>
                <a:close/>
              </a:path>
            </a:pathLst>
          </a:custGeom>
          <a:blipFill>
            <a:blip r:embed="rId14">
              <a:extLst>
                <a:ext uri="{96DAC541-7B7A-43D3-8B79-37D633B846F1}">
                  <asvg:svgBlip xmlns:asvg="http://schemas.microsoft.com/office/drawing/2016/SVG/main" r:embed="rId15"/>
                </a:ext>
              </a:extLst>
            </a:blip>
            <a:stretch>
              <a:fillRect l="-127975" t="-28590" r="-17420" b="-104172"/>
            </a:stretch>
          </a:blipFill>
        </p:spPr>
      </p:sp>
      <p:sp>
        <p:nvSpPr>
          <p:cNvPr name="Freeform 37" id="37"/>
          <p:cNvSpPr/>
          <p:nvPr/>
        </p:nvSpPr>
        <p:spPr>
          <a:xfrm flipH="false" flipV="false" rot="323603">
            <a:off x="2892922" y="6348589"/>
            <a:ext cx="453044" cy="569458"/>
          </a:xfrm>
          <a:custGeom>
            <a:avLst/>
            <a:gdLst/>
            <a:ahLst/>
            <a:cxnLst/>
            <a:rect r="r" b="b" t="t" l="l"/>
            <a:pathLst>
              <a:path h="569458" w="453044">
                <a:moveTo>
                  <a:pt x="0" y="0"/>
                </a:moveTo>
                <a:lnTo>
                  <a:pt x="453044" y="0"/>
                </a:lnTo>
                <a:lnTo>
                  <a:pt x="453044" y="569458"/>
                </a:lnTo>
                <a:lnTo>
                  <a:pt x="0" y="569458"/>
                </a:lnTo>
                <a:lnTo>
                  <a:pt x="0" y="0"/>
                </a:lnTo>
                <a:close/>
              </a:path>
            </a:pathLst>
          </a:custGeom>
          <a:blipFill>
            <a:blip r:embed="rId14">
              <a:extLst>
                <a:ext uri="{96DAC541-7B7A-43D3-8B79-37D633B846F1}">
                  <asvg:svgBlip xmlns:asvg="http://schemas.microsoft.com/office/drawing/2016/SVG/main" r:embed="rId15"/>
                </a:ext>
              </a:extLst>
            </a:blip>
            <a:stretch>
              <a:fillRect l="-127975" t="-28590" r="-17420" b="-104172"/>
            </a:stretch>
          </a:blipFill>
        </p:spPr>
      </p:sp>
      <p:sp>
        <p:nvSpPr>
          <p:cNvPr name="Freeform 38" id="38"/>
          <p:cNvSpPr/>
          <p:nvPr/>
        </p:nvSpPr>
        <p:spPr>
          <a:xfrm flipH="false" flipV="false" rot="323603">
            <a:off x="2892922" y="7409726"/>
            <a:ext cx="453044" cy="569458"/>
          </a:xfrm>
          <a:custGeom>
            <a:avLst/>
            <a:gdLst/>
            <a:ahLst/>
            <a:cxnLst/>
            <a:rect r="r" b="b" t="t" l="l"/>
            <a:pathLst>
              <a:path h="569458" w="453044">
                <a:moveTo>
                  <a:pt x="0" y="0"/>
                </a:moveTo>
                <a:lnTo>
                  <a:pt x="453044" y="0"/>
                </a:lnTo>
                <a:lnTo>
                  <a:pt x="453044" y="569458"/>
                </a:lnTo>
                <a:lnTo>
                  <a:pt x="0" y="569458"/>
                </a:lnTo>
                <a:lnTo>
                  <a:pt x="0" y="0"/>
                </a:lnTo>
                <a:close/>
              </a:path>
            </a:pathLst>
          </a:custGeom>
          <a:blipFill>
            <a:blip r:embed="rId14">
              <a:extLst>
                <a:ext uri="{96DAC541-7B7A-43D3-8B79-37D633B846F1}">
                  <asvg:svgBlip xmlns:asvg="http://schemas.microsoft.com/office/drawing/2016/SVG/main" r:embed="rId15"/>
                </a:ext>
              </a:extLst>
            </a:blip>
            <a:stretch>
              <a:fillRect l="-127975" t="-28590" r="-17420" b="-104172"/>
            </a:stretch>
          </a:blipFill>
        </p:spPr>
      </p:sp>
      <p:sp>
        <p:nvSpPr>
          <p:cNvPr name="TextBox 39" id="39"/>
          <p:cNvSpPr txBox="true"/>
          <p:nvPr/>
        </p:nvSpPr>
        <p:spPr>
          <a:xfrm rot="0">
            <a:off x="7142382" y="139010"/>
            <a:ext cx="8555749" cy="1373479"/>
          </a:xfrm>
          <a:prstGeom prst="rect">
            <a:avLst/>
          </a:prstGeom>
        </p:spPr>
        <p:txBody>
          <a:bodyPr anchor="t" rtlCol="false" tIns="0" lIns="0" bIns="0" rIns="0">
            <a:spAutoFit/>
          </a:bodyPr>
          <a:lstStyle/>
          <a:p>
            <a:pPr algn="l">
              <a:lnSpc>
                <a:spcPts val="4550"/>
              </a:lnSpc>
            </a:pPr>
            <a:r>
              <a:rPr lang="en-US" sz="3250" b="true">
                <a:solidFill>
                  <a:srgbClr val="485B90"/>
                </a:solidFill>
                <a:latin typeface="Cakerolli Ultra-Bold"/>
                <a:ea typeface="Cakerolli Ultra-Bold"/>
                <a:cs typeface="Cakerolli Ultra-Bold"/>
                <a:sym typeface="Cakerolli Ultra-Bold"/>
              </a:rPr>
              <a:t>1.2. Khảo sát hiện trạng và thu thập thông tin</a:t>
            </a:r>
          </a:p>
          <a:p>
            <a:pPr algn="l">
              <a:lnSpc>
                <a:spcPts val="4550"/>
              </a:lnSpc>
            </a:pPr>
          </a:p>
        </p:txBody>
      </p:sp>
      <p:sp>
        <p:nvSpPr>
          <p:cNvPr name="TextBox 40" id="40"/>
          <p:cNvSpPr txBox="true"/>
          <p:nvPr/>
        </p:nvSpPr>
        <p:spPr>
          <a:xfrm rot="0">
            <a:off x="5806202" y="1437590"/>
            <a:ext cx="4963954" cy="8375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Cakerolli Bold"/>
                <a:ea typeface="Cakerolli Bold"/>
                <a:cs typeface="Cakerolli Bold"/>
                <a:sym typeface="Cakerolli Bold"/>
              </a:rPr>
              <a:t>1.2.1. Khảo sát hiện trạng </a:t>
            </a:r>
          </a:p>
        </p:txBody>
      </p:sp>
      <p:sp>
        <p:nvSpPr>
          <p:cNvPr name="TextBox 41" id="41"/>
          <p:cNvSpPr txBox="true"/>
          <p:nvPr/>
        </p:nvSpPr>
        <p:spPr>
          <a:xfrm rot="0">
            <a:off x="3133301" y="2728772"/>
            <a:ext cx="3308271"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000000"/>
                </a:solidFill>
                <a:latin typeface="Cakerolli Bold"/>
                <a:ea typeface="Cakerolli Bold"/>
                <a:cs typeface="Cakerolli Bold"/>
                <a:sym typeface="Cakerolli Bold"/>
              </a:rPr>
              <a:t>1.2.1.2. Thực trạng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6606577" y="226184"/>
            <a:ext cx="9837796" cy="1546938"/>
          </a:xfrm>
          <a:prstGeom prst="rect">
            <a:avLst/>
          </a:prstGeom>
        </p:spPr>
        <p:txBody>
          <a:bodyPr anchor="t" rtlCol="false" tIns="0" lIns="0" bIns="0" rIns="0">
            <a:spAutoFit/>
          </a:bodyPr>
          <a:lstStyle/>
          <a:p>
            <a:pPr algn="l">
              <a:lnSpc>
                <a:spcPts val="5133"/>
              </a:lnSpc>
            </a:pPr>
            <a:r>
              <a:rPr lang="en-US" sz="3666" b="true">
                <a:solidFill>
                  <a:srgbClr val="485B90"/>
                </a:solidFill>
                <a:latin typeface="Cakerolli Ultra-Bold"/>
                <a:ea typeface="Cakerolli Ultra-Bold"/>
                <a:cs typeface="Cakerolli Ultra-Bold"/>
                <a:sym typeface="Cakerolli Ultra-Bold"/>
              </a:rPr>
              <a:t>1.2. Khảo sát hiện trạng và thu thập thông tin</a:t>
            </a:r>
          </a:p>
          <a:p>
            <a:pPr algn="l">
              <a:lnSpc>
                <a:spcPts val="5133"/>
              </a:lnSpc>
            </a:pPr>
          </a:p>
        </p:txBody>
      </p:sp>
      <p:sp>
        <p:nvSpPr>
          <p:cNvPr name="Freeform 35" id="35"/>
          <p:cNvSpPr/>
          <p:nvPr/>
        </p:nvSpPr>
        <p:spPr>
          <a:xfrm flipH="false" flipV="false" rot="0">
            <a:off x="13590800" y="3283704"/>
            <a:ext cx="3917374" cy="5204241"/>
          </a:xfrm>
          <a:custGeom>
            <a:avLst/>
            <a:gdLst/>
            <a:ahLst/>
            <a:cxnLst/>
            <a:rect r="r" b="b" t="t" l="l"/>
            <a:pathLst>
              <a:path h="5204241" w="3917374">
                <a:moveTo>
                  <a:pt x="0" y="0"/>
                </a:moveTo>
                <a:lnTo>
                  <a:pt x="3917374" y="0"/>
                </a:lnTo>
                <a:lnTo>
                  <a:pt x="3917374" y="5204241"/>
                </a:lnTo>
                <a:lnTo>
                  <a:pt x="0" y="520424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6" id="36"/>
          <p:cNvSpPr txBox="true"/>
          <p:nvPr/>
        </p:nvSpPr>
        <p:spPr>
          <a:xfrm rot="0">
            <a:off x="338723" y="3302754"/>
            <a:ext cx="12238317" cy="5746576"/>
          </a:xfrm>
          <a:prstGeom prst="rect">
            <a:avLst/>
          </a:prstGeom>
        </p:spPr>
        <p:txBody>
          <a:bodyPr anchor="t" rtlCol="false" tIns="0" lIns="0" bIns="0" rIns="0">
            <a:spAutoFit/>
          </a:bodyPr>
          <a:lstStyle/>
          <a:p>
            <a:pPr algn="just">
              <a:lnSpc>
                <a:spcPts val="3475"/>
              </a:lnSpc>
            </a:pPr>
            <a:r>
              <a:rPr lang="en-US" sz="2482" b="true">
                <a:solidFill>
                  <a:srgbClr val="FF7D7E"/>
                </a:solidFill>
                <a:latin typeface="Cakerolli Semi-Bold"/>
                <a:ea typeface="Cakerolli Semi-Bold"/>
                <a:cs typeface="Cakerolli Semi-Bold"/>
                <a:sym typeface="Cakerolli Semi-Bold"/>
              </a:rPr>
              <a:t> Trước tình hình đó, vấn đề đặt ra cần phải có một hệ thống mới đáp ứng được các yêu cầu cơ bản sau:</a:t>
            </a:r>
          </a:p>
          <a:p>
            <a:pPr algn="just">
              <a:lnSpc>
                <a:spcPts val="3475"/>
              </a:lnSpc>
            </a:pPr>
            <a:r>
              <a:rPr lang="en-US" sz="2482" b="true">
                <a:solidFill>
                  <a:srgbClr val="FF7D7E"/>
                </a:solidFill>
                <a:latin typeface="Cakerolli Semi-Bold"/>
                <a:ea typeface="Cakerolli Semi-Bold"/>
                <a:cs typeface="Cakerolli Semi-Bold"/>
                <a:sym typeface="Cakerolli Semi-Bold"/>
              </a:rPr>
              <a:t>  - Ứng dụng đặt bàn trực tuyến: Cho phép khách hàng dễ dàng chọn bàn và đặt món ăn trước, giảm thời gian chờ đợi.</a:t>
            </a:r>
          </a:p>
          <a:p>
            <a:pPr algn="just">
              <a:lnSpc>
                <a:spcPts val="3475"/>
              </a:lnSpc>
            </a:pPr>
            <a:r>
              <a:rPr lang="en-US" sz="2482" b="true">
                <a:solidFill>
                  <a:srgbClr val="FF7D7E"/>
                </a:solidFill>
                <a:latin typeface="Cakerolli Semi-Bold"/>
                <a:ea typeface="Cakerolli Semi-Bold"/>
                <a:cs typeface="Cakerolli Semi-Bold"/>
                <a:sym typeface="Cakerolli Semi-Bold"/>
              </a:rPr>
              <a:t>  - Thực đơn điện tử qua QR code: Giúp khách hàng truy cập nhanh chóng vào thực đơn và thông tin món ăn.</a:t>
            </a:r>
          </a:p>
          <a:p>
            <a:pPr algn="l">
              <a:lnSpc>
                <a:spcPts val="3475"/>
              </a:lnSpc>
            </a:pPr>
            <a:r>
              <a:rPr lang="en-US" sz="2482" b="true">
                <a:solidFill>
                  <a:srgbClr val="FF7D7E"/>
                </a:solidFill>
                <a:latin typeface="Cakerolli Semi-Bold"/>
                <a:ea typeface="Cakerolli Semi-Bold"/>
                <a:cs typeface="Cakerolli Semi-Bold"/>
                <a:sym typeface="Cakerolli Semi-Bold"/>
              </a:rPr>
              <a:t>  - Thanh toán nhanh chóng: Hỗ trợ các phương thức thanh toán trực tuyến để tối ưu hóa trải nghiệm thanh toán.</a:t>
            </a:r>
          </a:p>
          <a:p>
            <a:pPr algn="just">
              <a:lnSpc>
                <a:spcPts val="3475"/>
              </a:lnSpc>
            </a:pPr>
            <a:r>
              <a:rPr lang="en-US" sz="2482" b="true">
                <a:solidFill>
                  <a:srgbClr val="FF7D7E"/>
                </a:solidFill>
                <a:latin typeface="Cakerolli Semi-Bold"/>
                <a:ea typeface="Cakerolli Semi-Bold"/>
                <a:cs typeface="Cakerolli Semi-Bold"/>
                <a:sym typeface="Cakerolli Semi-Bold"/>
              </a:rPr>
              <a:t>  - Báo cáo phân tích dữ liệu: Cung cấp thông tin về hiệu suất kinh doanh, giúp quản lý theo dõi và điều chỉnh kịp thời.</a:t>
            </a:r>
          </a:p>
          <a:p>
            <a:pPr algn="just">
              <a:lnSpc>
                <a:spcPts val="3475"/>
              </a:lnSpc>
            </a:pPr>
            <a:r>
              <a:rPr lang="en-US" sz="2482" b="true">
                <a:solidFill>
                  <a:srgbClr val="FF7D7E"/>
                </a:solidFill>
                <a:latin typeface="Cakerolli Semi-Bold"/>
                <a:ea typeface="Cakerolli Semi-Bold"/>
                <a:cs typeface="Cakerolli Semi-Bold"/>
                <a:sym typeface="Cakerolli Semi-Bold"/>
              </a:rPr>
              <a:t>  - Tối ưu hóa quy trình phục vụ: Giảm thiểu sai sót và tăng cường hiệu quả trong quá trình phục vụ khách hàng.</a:t>
            </a:r>
          </a:p>
          <a:p>
            <a:pPr algn="just">
              <a:lnSpc>
                <a:spcPts val="2493"/>
              </a:lnSpc>
            </a:pPr>
          </a:p>
        </p:txBody>
      </p:sp>
      <p:sp>
        <p:nvSpPr>
          <p:cNvPr name="Freeform 37" id="37"/>
          <p:cNvSpPr/>
          <p:nvPr/>
        </p:nvSpPr>
        <p:spPr>
          <a:xfrm flipH="false" flipV="false" rot="0">
            <a:off x="12577040" y="3905675"/>
            <a:ext cx="440199" cy="420779"/>
          </a:xfrm>
          <a:custGeom>
            <a:avLst/>
            <a:gdLst/>
            <a:ahLst/>
            <a:cxnLst/>
            <a:rect r="r" b="b" t="t" l="l"/>
            <a:pathLst>
              <a:path h="420779" w="440199">
                <a:moveTo>
                  <a:pt x="0" y="0"/>
                </a:moveTo>
                <a:lnTo>
                  <a:pt x="440199" y="0"/>
                </a:lnTo>
                <a:lnTo>
                  <a:pt x="440199" y="420779"/>
                </a:lnTo>
                <a:lnTo>
                  <a:pt x="0" y="420779"/>
                </a:lnTo>
                <a:lnTo>
                  <a:pt x="0" y="0"/>
                </a:lnTo>
                <a:close/>
              </a:path>
            </a:pathLst>
          </a:custGeom>
          <a:blipFill>
            <a:blip r:embed="rId16">
              <a:extLst>
                <a:ext uri="{96DAC541-7B7A-43D3-8B79-37D633B846F1}">
                  <asvg:svgBlip xmlns:asvg="http://schemas.microsoft.com/office/drawing/2016/SVG/main" r:embed="rId17"/>
                </a:ext>
              </a:extLst>
            </a:blip>
            <a:stretch>
              <a:fillRect l="-27746" t="-175875" r="-135957" b="0"/>
            </a:stretch>
          </a:blipFill>
        </p:spPr>
      </p:sp>
      <p:sp>
        <p:nvSpPr>
          <p:cNvPr name="Freeform 38" id="38"/>
          <p:cNvSpPr/>
          <p:nvPr/>
        </p:nvSpPr>
        <p:spPr>
          <a:xfrm flipH="false" flipV="false" rot="0">
            <a:off x="12577040" y="4796992"/>
            <a:ext cx="440199" cy="420779"/>
          </a:xfrm>
          <a:custGeom>
            <a:avLst/>
            <a:gdLst/>
            <a:ahLst/>
            <a:cxnLst/>
            <a:rect r="r" b="b" t="t" l="l"/>
            <a:pathLst>
              <a:path h="420779" w="440199">
                <a:moveTo>
                  <a:pt x="0" y="0"/>
                </a:moveTo>
                <a:lnTo>
                  <a:pt x="440199" y="0"/>
                </a:lnTo>
                <a:lnTo>
                  <a:pt x="440199" y="420778"/>
                </a:lnTo>
                <a:lnTo>
                  <a:pt x="0" y="420778"/>
                </a:lnTo>
                <a:lnTo>
                  <a:pt x="0" y="0"/>
                </a:lnTo>
                <a:close/>
              </a:path>
            </a:pathLst>
          </a:custGeom>
          <a:blipFill>
            <a:blip r:embed="rId16">
              <a:extLst>
                <a:ext uri="{96DAC541-7B7A-43D3-8B79-37D633B846F1}">
                  <asvg:svgBlip xmlns:asvg="http://schemas.microsoft.com/office/drawing/2016/SVG/main" r:embed="rId17"/>
                </a:ext>
              </a:extLst>
            </a:blip>
            <a:stretch>
              <a:fillRect l="-27746" t="-175875" r="-135957" b="0"/>
            </a:stretch>
          </a:blipFill>
        </p:spPr>
      </p:sp>
      <p:sp>
        <p:nvSpPr>
          <p:cNvPr name="Freeform 39" id="39"/>
          <p:cNvSpPr/>
          <p:nvPr/>
        </p:nvSpPr>
        <p:spPr>
          <a:xfrm flipH="false" flipV="false" rot="0">
            <a:off x="12579101" y="5641079"/>
            <a:ext cx="440199" cy="420779"/>
          </a:xfrm>
          <a:custGeom>
            <a:avLst/>
            <a:gdLst/>
            <a:ahLst/>
            <a:cxnLst/>
            <a:rect r="r" b="b" t="t" l="l"/>
            <a:pathLst>
              <a:path h="420779" w="440199">
                <a:moveTo>
                  <a:pt x="0" y="0"/>
                </a:moveTo>
                <a:lnTo>
                  <a:pt x="440199" y="0"/>
                </a:lnTo>
                <a:lnTo>
                  <a:pt x="440199" y="420779"/>
                </a:lnTo>
                <a:lnTo>
                  <a:pt x="0" y="420779"/>
                </a:lnTo>
                <a:lnTo>
                  <a:pt x="0" y="0"/>
                </a:lnTo>
                <a:close/>
              </a:path>
            </a:pathLst>
          </a:custGeom>
          <a:blipFill>
            <a:blip r:embed="rId16">
              <a:extLst>
                <a:ext uri="{96DAC541-7B7A-43D3-8B79-37D633B846F1}">
                  <asvg:svgBlip xmlns:asvg="http://schemas.microsoft.com/office/drawing/2016/SVG/main" r:embed="rId17"/>
                </a:ext>
              </a:extLst>
            </a:blip>
            <a:stretch>
              <a:fillRect l="-27746" t="-175875" r="-135957" b="0"/>
            </a:stretch>
          </a:blipFill>
        </p:spPr>
      </p:sp>
      <p:sp>
        <p:nvSpPr>
          <p:cNvPr name="Freeform 40" id="40"/>
          <p:cNvSpPr/>
          <p:nvPr/>
        </p:nvSpPr>
        <p:spPr>
          <a:xfrm flipH="false" flipV="false" rot="0">
            <a:off x="12577040" y="6411356"/>
            <a:ext cx="440199" cy="420779"/>
          </a:xfrm>
          <a:custGeom>
            <a:avLst/>
            <a:gdLst/>
            <a:ahLst/>
            <a:cxnLst/>
            <a:rect r="r" b="b" t="t" l="l"/>
            <a:pathLst>
              <a:path h="420779" w="440199">
                <a:moveTo>
                  <a:pt x="0" y="0"/>
                </a:moveTo>
                <a:lnTo>
                  <a:pt x="440199" y="0"/>
                </a:lnTo>
                <a:lnTo>
                  <a:pt x="440199" y="420779"/>
                </a:lnTo>
                <a:lnTo>
                  <a:pt x="0" y="420779"/>
                </a:lnTo>
                <a:lnTo>
                  <a:pt x="0" y="0"/>
                </a:lnTo>
                <a:close/>
              </a:path>
            </a:pathLst>
          </a:custGeom>
          <a:blipFill>
            <a:blip r:embed="rId16">
              <a:extLst>
                <a:ext uri="{96DAC541-7B7A-43D3-8B79-37D633B846F1}">
                  <asvg:svgBlip xmlns:asvg="http://schemas.microsoft.com/office/drawing/2016/SVG/main" r:embed="rId17"/>
                </a:ext>
              </a:extLst>
            </a:blip>
            <a:stretch>
              <a:fillRect l="-27746" t="-175875" r="-135957" b="0"/>
            </a:stretch>
          </a:blipFill>
        </p:spPr>
      </p:sp>
      <p:sp>
        <p:nvSpPr>
          <p:cNvPr name="Freeform 41" id="41"/>
          <p:cNvSpPr/>
          <p:nvPr/>
        </p:nvSpPr>
        <p:spPr>
          <a:xfrm flipH="false" flipV="false" rot="0">
            <a:off x="12577040" y="7144748"/>
            <a:ext cx="440199" cy="420779"/>
          </a:xfrm>
          <a:custGeom>
            <a:avLst/>
            <a:gdLst/>
            <a:ahLst/>
            <a:cxnLst/>
            <a:rect r="r" b="b" t="t" l="l"/>
            <a:pathLst>
              <a:path h="420779" w="440199">
                <a:moveTo>
                  <a:pt x="0" y="0"/>
                </a:moveTo>
                <a:lnTo>
                  <a:pt x="440199" y="0"/>
                </a:lnTo>
                <a:lnTo>
                  <a:pt x="440199" y="420779"/>
                </a:lnTo>
                <a:lnTo>
                  <a:pt x="0" y="420779"/>
                </a:lnTo>
                <a:lnTo>
                  <a:pt x="0" y="0"/>
                </a:lnTo>
                <a:close/>
              </a:path>
            </a:pathLst>
          </a:custGeom>
          <a:blipFill>
            <a:blip r:embed="rId16">
              <a:extLst>
                <a:ext uri="{96DAC541-7B7A-43D3-8B79-37D633B846F1}">
                  <asvg:svgBlip xmlns:asvg="http://schemas.microsoft.com/office/drawing/2016/SVG/main" r:embed="rId17"/>
                </a:ext>
              </a:extLst>
            </a:blip>
            <a:stretch>
              <a:fillRect l="-27746" t="-175875" r="-135957" b="0"/>
            </a:stretch>
          </a:blipFill>
        </p:spPr>
      </p:sp>
      <p:sp>
        <p:nvSpPr>
          <p:cNvPr name="Freeform 42" id="42"/>
          <p:cNvSpPr/>
          <p:nvPr/>
        </p:nvSpPr>
        <p:spPr>
          <a:xfrm flipH="false" flipV="false" rot="0">
            <a:off x="12579101" y="7859285"/>
            <a:ext cx="440199" cy="420779"/>
          </a:xfrm>
          <a:custGeom>
            <a:avLst/>
            <a:gdLst/>
            <a:ahLst/>
            <a:cxnLst/>
            <a:rect r="r" b="b" t="t" l="l"/>
            <a:pathLst>
              <a:path h="420779" w="440199">
                <a:moveTo>
                  <a:pt x="0" y="0"/>
                </a:moveTo>
                <a:lnTo>
                  <a:pt x="440199" y="0"/>
                </a:lnTo>
                <a:lnTo>
                  <a:pt x="440199" y="420779"/>
                </a:lnTo>
                <a:lnTo>
                  <a:pt x="0" y="420779"/>
                </a:lnTo>
                <a:lnTo>
                  <a:pt x="0" y="0"/>
                </a:lnTo>
                <a:close/>
              </a:path>
            </a:pathLst>
          </a:custGeom>
          <a:blipFill>
            <a:blip r:embed="rId16">
              <a:extLst>
                <a:ext uri="{96DAC541-7B7A-43D3-8B79-37D633B846F1}">
                  <asvg:svgBlip xmlns:asvg="http://schemas.microsoft.com/office/drawing/2016/SVG/main" r:embed="rId17"/>
                </a:ext>
              </a:extLst>
            </a:blip>
            <a:stretch>
              <a:fillRect l="-27746" t="-175875" r="-135957" b="0"/>
            </a:stretch>
          </a:blipFill>
        </p:spPr>
      </p:sp>
      <p:sp>
        <p:nvSpPr>
          <p:cNvPr name="TextBox 43" id="43"/>
          <p:cNvSpPr txBox="true"/>
          <p:nvPr/>
        </p:nvSpPr>
        <p:spPr>
          <a:xfrm rot="0">
            <a:off x="3157966" y="1377113"/>
            <a:ext cx="7996707"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000000"/>
                </a:solidFill>
                <a:latin typeface="Cakerolli Bold"/>
                <a:ea typeface="Cakerolli Bold"/>
                <a:cs typeface="Cakerolli Bold"/>
                <a:sym typeface="Cakerolli Bold"/>
              </a:rPr>
              <a:t>1.2.2. Xác định mục tiêu của hệ thống mới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6255725" y="-293849"/>
            <a:ext cx="9785630" cy="1347405"/>
          </a:xfrm>
          <a:prstGeom prst="rect">
            <a:avLst/>
          </a:prstGeom>
        </p:spPr>
        <p:txBody>
          <a:bodyPr anchor="t" rtlCol="false" tIns="0" lIns="0" bIns="0" rIns="0">
            <a:spAutoFit/>
          </a:bodyPr>
          <a:lstStyle/>
          <a:p>
            <a:pPr algn="ctr">
              <a:lnSpc>
                <a:spcPts val="7687"/>
              </a:lnSpc>
            </a:pPr>
            <a:r>
              <a:rPr lang="en-US" sz="5491" b="true">
                <a:solidFill>
                  <a:srgbClr val="485B90"/>
                </a:solidFill>
                <a:latin typeface="Cakerolli Ultra-Bold"/>
                <a:ea typeface="Cakerolli Ultra-Bold"/>
                <a:cs typeface="Cakerolli Ultra-Bold"/>
                <a:sym typeface="Cakerolli Ultra-Bold"/>
              </a:rPr>
              <a:t>Chương 1: Khảo sát hệ thống </a:t>
            </a:r>
          </a:p>
        </p:txBody>
      </p:sp>
      <p:sp>
        <p:nvSpPr>
          <p:cNvPr name="TextBox 35" id="35"/>
          <p:cNvSpPr txBox="true"/>
          <p:nvPr/>
        </p:nvSpPr>
        <p:spPr>
          <a:xfrm rot="0">
            <a:off x="4009925" y="7630211"/>
            <a:ext cx="11010705" cy="1854082"/>
          </a:xfrm>
          <a:prstGeom prst="rect">
            <a:avLst/>
          </a:prstGeom>
        </p:spPr>
        <p:txBody>
          <a:bodyPr anchor="t" rtlCol="false" tIns="0" lIns="0" bIns="0" rIns="0">
            <a:spAutoFit/>
          </a:bodyPr>
          <a:lstStyle/>
          <a:p>
            <a:pPr algn="ctr">
              <a:lnSpc>
                <a:spcPts val="3331"/>
              </a:lnSpc>
            </a:pPr>
          </a:p>
          <a:p>
            <a:pPr algn="ctr">
              <a:lnSpc>
                <a:spcPts val="3331"/>
              </a:lnSpc>
            </a:pPr>
          </a:p>
          <a:p>
            <a:pPr algn="ctr">
              <a:lnSpc>
                <a:spcPts val="3331"/>
              </a:lnSpc>
            </a:pPr>
            <a:r>
              <a:rPr lang="en-US" sz="2379">
                <a:solidFill>
                  <a:srgbClr val="485B90"/>
                </a:solidFill>
                <a:latin typeface="Cakerolli"/>
                <a:ea typeface="Cakerolli"/>
                <a:cs typeface="Cakerolli"/>
                <a:sym typeface="Cakerolli"/>
              </a:rPr>
              <a:t> </a:t>
            </a:r>
          </a:p>
          <a:p>
            <a:pPr algn="ctr">
              <a:lnSpc>
                <a:spcPts val="3331"/>
              </a:lnSpc>
            </a:pPr>
          </a:p>
        </p:txBody>
      </p:sp>
      <p:sp>
        <p:nvSpPr>
          <p:cNvPr name="TextBox 36" id="36"/>
          <p:cNvSpPr txBox="true"/>
          <p:nvPr/>
        </p:nvSpPr>
        <p:spPr>
          <a:xfrm rot="0">
            <a:off x="1730600" y="3486168"/>
            <a:ext cx="15094362" cy="2106295"/>
          </a:xfrm>
          <a:prstGeom prst="rect">
            <a:avLst/>
          </a:prstGeom>
        </p:spPr>
        <p:txBody>
          <a:bodyPr anchor="t" rtlCol="false" tIns="0" lIns="0" bIns="0" rIns="0">
            <a:spAutoFit/>
          </a:bodyPr>
          <a:lstStyle/>
          <a:p>
            <a:pPr algn="just">
              <a:lnSpc>
                <a:spcPts val="3079"/>
              </a:lnSpc>
            </a:pPr>
            <a:r>
              <a:rPr lang="en-US" sz="2199" b="true">
                <a:solidFill>
                  <a:srgbClr val="E080B4"/>
                </a:solidFill>
                <a:latin typeface="Cakerolli Bold"/>
                <a:ea typeface="Cakerolli Bold"/>
                <a:cs typeface="Cakerolli Bold"/>
                <a:sym typeface="Cakerolli Bold"/>
              </a:rPr>
              <a:t> - Cải thiện trải nghiệm khách hàng: Tăng cường sự thuận tiện trong việc đặt bàn và chọn món ăn.</a:t>
            </a:r>
          </a:p>
          <a:p>
            <a:pPr algn="just">
              <a:lnSpc>
                <a:spcPts val="3079"/>
              </a:lnSpc>
            </a:pPr>
            <a:r>
              <a:rPr lang="en-US" sz="2199" b="true">
                <a:solidFill>
                  <a:srgbClr val="E080B4"/>
                </a:solidFill>
                <a:latin typeface="Cakerolli Bold"/>
                <a:ea typeface="Cakerolli Bold"/>
                <a:cs typeface="Cakerolli Bold"/>
                <a:sym typeface="Cakerolli Bold"/>
              </a:rPr>
              <a:t> - Tối ưu hóa quy trình hoạt động:Giảm thời gian chờ đợi và sai sót trong phục vụ.</a:t>
            </a:r>
          </a:p>
          <a:p>
            <a:pPr algn="just">
              <a:lnSpc>
                <a:spcPts val="3079"/>
              </a:lnSpc>
            </a:pPr>
            <a:r>
              <a:rPr lang="en-US" sz="2199" b="true">
                <a:solidFill>
                  <a:srgbClr val="E080B4"/>
                </a:solidFill>
                <a:latin typeface="Cakerolli Bold"/>
                <a:ea typeface="Cakerolli Bold"/>
                <a:cs typeface="Cakerolli Bold"/>
                <a:sym typeface="Cakerolli Bold"/>
              </a:rPr>
              <a:t> - Tăng doanh thu: Thúc đẩy doanh thu thông qua chương trình khuyến mãi và nâng cao tỷ lệ đặt bàn.</a:t>
            </a:r>
          </a:p>
          <a:p>
            <a:pPr algn="just">
              <a:lnSpc>
                <a:spcPts val="3079"/>
              </a:lnSpc>
            </a:pPr>
            <a:r>
              <a:rPr lang="en-US" sz="2199" b="true">
                <a:solidFill>
                  <a:srgbClr val="E080B4"/>
                </a:solidFill>
                <a:latin typeface="Cakerolli Bold"/>
                <a:ea typeface="Cakerolli Bold"/>
                <a:cs typeface="Cakerolli Bold"/>
                <a:sym typeface="Cakerolli Bold"/>
              </a:rPr>
              <a:t> - Quản lý hiệu quả: Cung cấp báo cáo phân tích để theo dõi hiệu suất kinh doanh.</a:t>
            </a:r>
          </a:p>
          <a:p>
            <a:pPr algn="just" marL="0" indent="0" lvl="0">
              <a:lnSpc>
                <a:spcPts val="3079"/>
              </a:lnSpc>
              <a:spcBef>
                <a:spcPct val="0"/>
              </a:spcBef>
            </a:pPr>
          </a:p>
        </p:txBody>
      </p:sp>
      <p:sp>
        <p:nvSpPr>
          <p:cNvPr name="TextBox 37" id="37"/>
          <p:cNvSpPr txBox="true"/>
          <p:nvPr/>
        </p:nvSpPr>
        <p:spPr>
          <a:xfrm rot="0">
            <a:off x="1845948" y="6869992"/>
            <a:ext cx="14863666" cy="2496820"/>
          </a:xfrm>
          <a:prstGeom prst="rect">
            <a:avLst/>
          </a:prstGeom>
        </p:spPr>
        <p:txBody>
          <a:bodyPr anchor="t" rtlCol="false" tIns="0" lIns="0" bIns="0" rIns="0">
            <a:spAutoFit/>
          </a:bodyPr>
          <a:lstStyle/>
          <a:p>
            <a:pPr algn="just">
              <a:lnSpc>
                <a:spcPts val="3079"/>
              </a:lnSpc>
            </a:pPr>
            <a:r>
              <a:rPr lang="en-US" sz="2199" b="true">
                <a:solidFill>
                  <a:srgbClr val="E080B4"/>
                </a:solidFill>
                <a:latin typeface="Cakerolli Bold"/>
                <a:ea typeface="Cakerolli Bold"/>
                <a:cs typeface="Cakerolli Bold"/>
                <a:sym typeface="Cakerolli Bold"/>
              </a:rPr>
              <a:t> Hệ thống phải cho phép khách hàng đặt bàn trực tuyến dễ dàng và nhanh chóng, cung cấp thực đơn điện tử với hình ảnh và giá cả.</a:t>
            </a:r>
          </a:p>
          <a:p>
            <a:pPr algn="just">
              <a:lnSpc>
                <a:spcPts val="3079"/>
              </a:lnSpc>
            </a:pPr>
            <a:r>
              <a:rPr lang="en-US" sz="2199" b="true">
                <a:solidFill>
                  <a:srgbClr val="E080B4"/>
                </a:solidFill>
                <a:latin typeface="Cakerolli Bold"/>
                <a:ea typeface="Cakerolli Bold"/>
                <a:cs typeface="Cakerolli Bold"/>
                <a:sym typeface="Cakerolli Bold"/>
              </a:rPr>
              <a:t> Cần hỗ trợ nhiều phương thức thanh toán, bao gồm thẻ tín dụng và ví điện tử.</a:t>
            </a:r>
          </a:p>
          <a:p>
            <a:pPr algn="just">
              <a:lnSpc>
                <a:spcPts val="3079"/>
              </a:lnSpc>
            </a:pPr>
            <a:r>
              <a:rPr lang="en-US" sz="2199" b="true">
                <a:solidFill>
                  <a:srgbClr val="E080B4"/>
                </a:solidFill>
                <a:latin typeface="Cakerolli Bold"/>
                <a:ea typeface="Cakerolli Bold"/>
                <a:cs typeface="Cakerolli Bold"/>
                <a:sym typeface="Cakerolli Bold"/>
              </a:rPr>
              <a:t> Cung cấp tính năng báo cáo để theo dõi doanh thu và đánh giá khách hàng, với giao diện thân thiện cho người dùng. Đảm bảo an toàn và bảo mật thông tin cá nhân, đồng thời tích hợp tốt với các phần mềm quản lý hiện có.</a:t>
            </a:r>
          </a:p>
          <a:p>
            <a:pPr algn="just">
              <a:lnSpc>
                <a:spcPts val="3079"/>
              </a:lnSpc>
            </a:pPr>
          </a:p>
        </p:txBody>
      </p:sp>
      <p:sp>
        <p:nvSpPr>
          <p:cNvPr name="TextBox 38" id="38"/>
          <p:cNvSpPr txBox="true"/>
          <p:nvPr/>
        </p:nvSpPr>
        <p:spPr>
          <a:xfrm rot="0">
            <a:off x="3729435" y="1128145"/>
            <a:ext cx="5785842" cy="890153"/>
          </a:xfrm>
          <a:prstGeom prst="rect">
            <a:avLst/>
          </a:prstGeom>
        </p:spPr>
        <p:txBody>
          <a:bodyPr anchor="t" rtlCol="false" tIns="0" lIns="0" bIns="0" rIns="0">
            <a:spAutoFit/>
          </a:bodyPr>
          <a:lstStyle/>
          <a:p>
            <a:pPr algn="ctr">
              <a:lnSpc>
                <a:spcPts val="5011"/>
              </a:lnSpc>
              <a:spcBef>
                <a:spcPct val="0"/>
              </a:spcBef>
            </a:pPr>
            <a:r>
              <a:rPr lang="en-US" b="true" sz="3579">
                <a:solidFill>
                  <a:srgbClr val="000000"/>
                </a:solidFill>
                <a:latin typeface="Cakerolli Bold"/>
                <a:ea typeface="Cakerolli Bold"/>
                <a:cs typeface="Cakerolli Bold"/>
                <a:sym typeface="Cakerolli Bold"/>
              </a:rPr>
              <a:t>1.3. Xác lập dự án</a:t>
            </a:r>
          </a:p>
        </p:txBody>
      </p:sp>
      <p:sp>
        <p:nvSpPr>
          <p:cNvPr name="TextBox 39" id="39"/>
          <p:cNvSpPr txBox="true"/>
          <p:nvPr/>
        </p:nvSpPr>
        <p:spPr>
          <a:xfrm rot="0">
            <a:off x="1633436" y="2322940"/>
            <a:ext cx="3942040"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000000"/>
                </a:solidFill>
                <a:latin typeface="Cakerolli Bold"/>
                <a:ea typeface="Cakerolli Bold"/>
                <a:cs typeface="Cakerolli Bold"/>
                <a:sym typeface="Cakerolli Bold"/>
              </a:rPr>
              <a:t>1.3.1.  Mục tiêu dự án </a:t>
            </a:r>
          </a:p>
        </p:txBody>
      </p:sp>
      <p:sp>
        <p:nvSpPr>
          <p:cNvPr name="TextBox 40" id="40"/>
          <p:cNvSpPr txBox="true"/>
          <p:nvPr/>
        </p:nvSpPr>
        <p:spPr>
          <a:xfrm rot="0">
            <a:off x="1633436" y="5855379"/>
            <a:ext cx="2583180"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000000"/>
                </a:solidFill>
                <a:latin typeface="Cakerolli Bold"/>
                <a:ea typeface="Cakerolli Bold"/>
                <a:cs typeface="Cakerolli Bold"/>
                <a:sym typeface="Cakerolli Bold"/>
              </a:rPr>
              <a:t>1.3.2. Yêu cầu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2441897" y="5082384"/>
            <a:ext cx="3905389" cy="2492348"/>
          </a:xfrm>
          <a:custGeom>
            <a:avLst/>
            <a:gdLst/>
            <a:ahLst/>
            <a:cxnLst/>
            <a:rect r="r" b="b" t="t" l="l"/>
            <a:pathLst>
              <a:path h="2492348" w="3905389">
                <a:moveTo>
                  <a:pt x="0" y="0"/>
                </a:moveTo>
                <a:lnTo>
                  <a:pt x="3905388" y="0"/>
                </a:lnTo>
                <a:lnTo>
                  <a:pt x="3905388" y="2492348"/>
                </a:lnTo>
                <a:lnTo>
                  <a:pt x="0" y="24923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5" id="35"/>
          <p:cNvSpPr txBox="true"/>
          <p:nvPr/>
        </p:nvSpPr>
        <p:spPr>
          <a:xfrm rot="0">
            <a:off x="3635871" y="1475373"/>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2: Phân tích &amp; thiết kế hệ thống </a:t>
            </a:r>
          </a:p>
        </p:txBody>
      </p:sp>
      <p:sp>
        <p:nvSpPr>
          <p:cNvPr name="TextBox 36" id="36"/>
          <p:cNvSpPr txBox="true"/>
          <p:nvPr/>
        </p:nvSpPr>
        <p:spPr>
          <a:xfrm rot="0">
            <a:off x="3013490" y="5642410"/>
            <a:ext cx="2762202" cy="1178892"/>
          </a:xfrm>
          <a:prstGeom prst="rect">
            <a:avLst/>
          </a:prstGeom>
        </p:spPr>
        <p:txBody>
          <a:bodyPr anchor="t" rtlCol="false" tIns="0" lIns="0" bIns="0" rIns="0">
            <a:spAutoFit/>
          </a:bodyPr>
          <a:lstStyle/>
          <a:p>
            <a:pPr algn="ctr" marL="0" indent="0" lvl="0">
              <a:lnSpc>
                <a:spcPts val="3787"/>
              </a:lnSpc>
            </a:pPr>
            <a:r>
              <a:rPr lang="en-US" b="true" sz="3079">
                <a:solidFill>
                  <a:srgbClr val="FFFFFF"/>
                </a:solidFill>
                <a:latin typeface="Cakerolli Bold"/>
                <a:ea typeface="Cakerolli Bold"/>
                <a:cs typeface="Cakerolli Bold"/>
                <a:sym typeface="Cakerolli Bold"/>
              </a:rPr>
              <a:t>2.1. Phân tích hệ thống </a:t>
            </a:r>
          </a:p>
        </p:txBody>
      </p:sp>
      <p:sp>
        <p:nvSpPr>
          <p:cNvPr name="Freeform 37" id="37"/>
          <p:cNvSpPr/>
          <p:nvPr/>
        </p:nvSpPr>
        <p:spPr>
          <a:xfrm flipH="false" flipV="false" rot="0">
            <a:off x="12094774" y="5234351"/>
            <a:ext cx="3667264" cy="2340381"/>
          </a:xfrm>
          <a:custGeom>
            <a:avLst/>
            <a:gdLst/>
            <a:ahLst/>
            <a:cxnLst/>
            <a:rect r="r" b="b" t="t" l="l"/>
            <a:pathLst>
              <a:path h="2340381" w="3667264">
                <a:moveTo>
                  <a:pt x="0" y="0"/>
                </a:moveTo>
                <a:lnTo>
                  <a:pt x="3667264" y="0"/>
                </a:lnTo>
                <a:lnTo>
                  <a:pt x="3667264" y="2340381"/>
                </a:lnTo>
                <a:lnTo>
                  <a:pt x="0" y="23403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8" id="38"/>
          <p:cNvSpPr txBox="true"/>
          <p:nvPr/>
        </p:nvSpPr>
        <p:spPr>
          <a:xfrm rot="0">
            <a:off x="12643985" y="5308239"/>
            <a:ext cx="2510714" cy="1982636"/>
          </a:xfrm>
          <a:prstGeom prst="rect">
            <a:avLst/>
          </a:prstGeom>
        </p:spPr>
        <p:txBody>
          <a:bodyPr anchor="t" rtlCol="false" tIns="0" lIns="0" bIns="0" rIns="0">
            <a:spAutoFit/>
          </a:bodyPr>
          <a:lstStyle/>
          <a:p>
            <a:pPr algn="ctr">
              <a:lnSpc>
                <a:spcPts val="4626"/>
              </a:lnSpc>
            </a:pPr>
            <a:r>
              <a:rPr lang="en-US" sz="3304" b="true">
                <a:solidFill>
                  <a:srgbClr val="FFFFFF"/>
                </a:solidFill>
                <a:latin typeface="Cakerolli Bold"/>
                <a:ea typeface="Cakerolli Bold"/>
                <a:cs typeface="Cakerolli Bold"/>
                <a:sym typeface="Cakerolli Bold"/>
              </a:rPr>
              <a:t>2.2 Phân tích hệ thống về dữ liệu</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4664498" y="5261337"/>
            <a:ext cx="2074416" cy="211213"/>
          </a:xfrm>
          <a:custGeom>
            <a:avLst/>
            <a:gdLst/>
            <a:ahLst/>
            <a:cxnLst/>
            <a:rect r="r" b="b" t="t" l="l"/>
            <a:pathLst>
              <a:path h="211213" w="2074416">
                <a:moveTo>
                  <a:pt x="0" y="0"/>
                </a:moveTo>
                <a:lnTo>
                  <a:pt x="2074417" y="0"/>
                </a:lnTo>
                <a:lnTo>
                  <a:pt x="2074417" y="211214"/>
                </a:lnTo>
                <a:lnTo>
                  <a:pt x="0" y="21121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5" id="35"/>
          <p:cNvSpPr/>
          <p:nvPr/>
        </p:nvSpPr>
        <p:spPr>
          <a:xfrm flipH="false" flipV="false" rot="5400000">
            <a:off x="4587076" y="2380019"/>
            <a:ext cx="2229262" cy="3377670"/>
          </a:xfrm>
          <a:custGeom>
            <a:avLst/>
            <a:gdLst/>
            <a:ahLst/>
            <a:cxnLst/>
            <a:rect r="r" b="b" t="t" l="l"/>
            <a:pathLst>
              <a:path h="3377670" w="2229262">
                <a:moveTo>
                  <a:pt x="0" y="0"/>
                </a:moveTo>
                <a:lnTo>
                  <a:pt x="2229262" y="0"/>
                </a:lnTo>
                <a:lnTo>
                  <a:pt x="2229262" y="3377669"/>
                </a:lnTo>
                <a:lnTo>
                  <a:pt x="0" y="33776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6" id="36"/>
          <p:cNvSpPr txBox="true"/>
          <p:nvPr/>
        </p:nvSpPr>
        <p:spPr>
          <a:xfrm rot="0">
            <a:off x="4291830" y="2885370"/>
            <a:ext cx="2625941" cy="2083233"/>
          </a:xfrm>
          <a:prstGeom prst="rect">
            <a:avLst/>
          </a:prstGeom>
        </p:spPr>
        <p:txBody>
          <a:bodyPr anchor="t" rtlCol="false" tIns="0" lIns="0" bIns="0" rIns="0">
            <a:spAutoFit/>
          </a:bodyPr>
          <a:lstStyle/>
          <a:p>
            <a:pPr algn="ctr">
              <a:lnSpc>
                <a:spcPts val="4879"/>
              </a:lnSpc>
            </a:pPr>
            <a:r>
              <a:rPr lang="en-US" sz="3485" b="true">
                <a:solidFill>
                  <a:srgbClr val="3BAB64"/>
                </a:solidFill>
                <a:latin typeface="Cakerolli Bold"/>
                <a:ea typeface="Cakerolli Bold"/>
                <a:cs typeface="Cakerolli Bold"/>
                <a:sym typeface="Cakerolli Bold"/>
              </a:rPr>
              <a:t>2.1.1. Sơ đồ phân rã chức năng</a:t>
            </a:r>
          </a:p>
        </p:txBody>
      </p:sp>
      <p:sp>
        <p:nvSpPr>
          <p:cNvPr name="Freeform 37" id="37"/>
          <p:cNvSpPr/>
          <p:nvPr/>
        </p:nvSpPr>
        <p:spPr>
          <a:xfrm flipH="false" flipV="true" rot="5400000">
            <a:off x="13468748" y="2340034"/>
            <a:ext cx="2229262" cy="3377670"/>
          </a:xfrm>
          <a:custGeom>
            <a:avLst/>
            <a:gdLst/>
            <a:ahLst/>
            <a:cxnLst/>
            <a:rect r="r" b="b" t="t" l="l"/>
            <a:pathLst>
              <a:path h="3377670" w="2229262">
                <a:moveTo>
                  <a:pt x="0" y="3377670"/>
                </a:moveTo>
                <a:lnTo>
                  <a:pt x="2229262" y="3377670"/>
                </a:lnTo>
                <a:lnTo>
                  <a:pt x="2229262" y="0"/>
                </a:lnTo>
                <a:lnTo>
                  <a:pt x="0" y="0"/>
                </a:lnTo>
                <a:lnTo>
                  <a:pt x="0" y="337767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8" id="38"/>
          <p:cNvSpPr/>
          <p:nvPr/>
        </p:nvSpPr>
        <p:spPr>
          <a:xfrm flipH="false" flipV="false" rot="0">
            <a:off x="13525606" y="5216638"/>
            <a:ext cx="2115547" cy="215401"/>
          </a:xfrm>
          <a:custGeom>
            <a:avLst/>
            <a:gdLst/>
            <a:ahLst/>
            <a:cxnLst/>
            <a:rect r="r" b="b" t="t" l="l"/>
            <a:pathLst>
              <a:path h="215401" w="2115547">
                <a:moveTo>
                  <a:pt x="0" y="0"/>
                </a:moveTo>
                <a:lnTo>
                  <a:pt x="2115547" y="0"/>
                </a:lnTo>
                <a:lnTo>
                  <a:pt x="2115547" y="215401"/>
                </a:lnTo>
                <a:lnTo>
                  <a:pt x="0" y="2154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9" id="39"/>
          <p:cNvSpPr txBox="true"/>
          <p:nvPr/>
        </p:nvSpPr>
        <p:spPr>
          <a:xfrm rot="0">
            <a:off x="13019300" y="2967408"/>
            <a:ext cx="3128158" cy="1898091"/>
          </a:xfrm>
          <a:prstGeom prst="rect">
            <a:avLst/>
          </a:prstGeom>
        </p:spPr>
        <p:txBody>
          <a:bodyPr anchor="t" rtlCol="false" tIns="0" lIns="0" bIns="0" rIns="0">
            <a:spAutoFit/>
          </a:bodyPr>
          <a:lstStyle/>
          <a:p>
            <a:pPr algn="ctr">
              <a:lnSpc>
                <a:spcPts val="4418"/>
              </a:lnSpc>
            </a:pPr>
            <a:r>
              <a:rPr lang="en-US" sz="3156" b="true">
                <a:solidFill>
                  <a:srgbClr val="E080B4"/>
                </a:solidFill>
                <a:latin typeface="Cakerolli Bold"/>
                <a:ea typeface="Cakerolli Bold"/>
                <a:cs typeface="Cakerolli Bold"/>
                <a:sym typeface="Cakerolli Bold"/>
              </a:rPr>
              <a:t>2.1.2. Sơ đồ dữ liệu mức ngữ cảnh  </a:t>
            </a:r>
          </a:p>
        </p:txBody>
      </p:sp>
      <p:sp>
        <p:nvSpPr>
          <p:cNvPr name="TextBox 40" id="40"/>
          <p:cNvSpPr txBox="true"/>
          <p:nvPr/>
        </p:nvSpPr>
        <p:spPr>
          <a:xfrm rot="0">
            <a:off x="1351703" y="937475"/>
            <a:ext cx="11132137" cy="1540498"/>
          </a:xfrm>
          <a:prstGeom prst="rect">
            <a:avLst/>
          </a:prstGeom>
        </p:spPr>
        <p:txBody>
          <a:bodyPr anchor="t" rtlCol="false" tIns="0" lIns="0" bIns="0" rIns="0">
            <a:spAutoFit/>
          </a:bodyPr>
          <a:lstStyle/>
          <a:p>
            <a:pPr algn="ctr">
              <a:lnSpc>
                <a:spcPts val="8713"/>
              </a:lnSpc>
              <a:spcBef>
                <a:spcPct val="0"/>
              </a:spcBef>
            </a:pPr>
            <a:r>
              <a:rPr lang="en-US" b="true" sz="6224">
                <a:solidFill>
                  <a:srgbClr val="000000"/>
                </a:solidFill>
                <a:latin typeface="Cakerolli Bold"/>
                <a:ea typeface="Cakerolli Bold"/>
                <a:cs typeface="Cakerolli Bold"/>
                <a:sym typeface="Cakerolli Bold"/>
              </a:rPr>
              <a:t>2.1. Phân tích hệ thống</a:t>
            </a:r>
          </a:p>
        </p:txBody>
      </p:sp>
      <p:sp>
        <p:nvSpPr>
          <p:cNvPr name="TextBox 41" id="41"/>
          <p:cNvSpPr txBox="true"/>
          <p:nvPr/>
        </p:nvSpPr>
        <p:spPr>
          <a:xfrm rot="0">
            <a:off x="5915290" y="-63836"/>
            <a:ext cx="11745459" cy="1210913"/>
          </a:xfrm>
          <a:prstGeom prst="rect">
            <a:avLst/>
          </a:prstGeom>
        </p:spPr>
        <p:txBody>
          <a:bodyPr anchor="t" rtlCol="false" tIns="0" lIns="0" bIns="0" rIns="0">
            <a:spAutoFit/>
          </a:bodyPr>
          <a:lstStyle/>
          <a:p>
            <a:pPr algn="l">
              <a:lnSpc>
                <a:spcPts val="6877"/>
              </a:lnSpc>
            </a:pPr>
            <a:r>
              <a:rPr lang="en-US" sz="4912" b="true">
                <a:solidFill>
                  <a:srgbClr val="485B90"/>
                </a:solidFill>
                <a:latin typeface="Cakerolli Ultra-Bold"/>
                <a:ea typeface="Cakerolli Ultra-Bold"/>
                <a:cs typeface="Cakerolli Ultra-Bold"/>
                <a:sym typeface="Cakerolli Ultra-Bold"/>
              </a:rPr>
              <a:t>Chương 2: Phân tích &amp; thiết kế hệ thống </a:t>
            </a:r>
          </a:p>
        </p:txBody>
      </p:sp>
      <p:sp>
        <p:nvSpPr>
          <p:cNvPr name="Freeform 42" id="42"/>
          <p:cNvSpPr/>
          <p:nvPr/>
        </p:nvSpPr>
        <p:spPr>
          <a:xfrm flipH="false" flipV="false" rot="5400000">
            <a:off x="5238702" y="6005620"/>
            <a:ext cx="2229262" cy="3377670"/>
          </a:xfrm>
          <a:custGeom>
            <a:avLst/>
            <a:gdLst/>
            <a:ahLst/>
            <a:cxnLst/>
            <a:rect r="r" b="b" t="t" l="l"/>
            <a:pathLst>
              <a:path h="3377670" w="2229262">
                <a:moveTo>
                  <a:pt x="0" y="0"/>
                </a:moveTo>
                <a:lnTo>
                  <a:pt x="2229262" y="0"/>
                </a:lnTo>
                <a:lnTo>
                  <a:pt x="2229262" y="3377670"/>
                </a:lnTo>
                <a:lnTo>
                  <a:pt x="0" y="33776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3" id="43"/>
          <p:cNvSpPr/>
          <p:nvPr/>
        </p:nvSpPr>
        <p:spPr>
          <a:xfrm flipH="false" flipV="false" rot="5400000">
            <a:off x="12837687" y="6005620"/>
            <a:ext cx="2229262" cy="3377670"/>
          </a:xfrm>
          <a:custGeom>
            <a:avLst/>
            <a:gdLst/>
            <a:ahLst/>
            <a:cxnLst/>
            <a:rect r="r" b="b" t="t" l="l"/>
            <a:pathLst>
              <a:path h="3377670" w="2229262">
                <a:moveTo>
                  <a:pt x="0" y="0"/>
                </a:moveTo>
                <a:lnTo>
                  <a:pt x="2229262" y="0"/>
                </a:lnTo>
                <a:lnTo>
                  <a:pt x="2229262" y="3377670"/>
                </a:lnTo>
                <a:lnTo>
                  <a:pt x="0" y="33776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4" id="44"/>
          <p:cNvSpPr/>
          <p:nvPr/>
        </p:nvSpPr>
        <p:spPr>
          <a:xfrm flipH="false" flipV="false" rot="0">
            <a:off x="13019300" y="8885286"/>
            <a:ext cx="2115547" cy="215401"/>
          </a:xfrm>
          <a:custGeom>
            <a:avLst/>
            <a:gdLst/>
            <a:ahLst/>
            <a:cxnLst/>
            <a:rect r="r" b="b" t="t" l="l"/>
            <a:pathLst>
              <a:path h="215401" w="2115547">
                <a:moveTo>
                  <a:pt x="0" y="0"/>
                </a:moveTo>
                <a:lnTo>
                  <a:pt x="2115547" y="0"/>
                </a:lnTo>
                <a:lnTo>
                  <a:pt x="2115547" y="215401"/>
                </a:lnTo>
                <a:lnTo>
                  <a:pt x="0" y="2154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5" id="45"/>
          <p:cNvSpPr/>
          <p:nvPr/>
        </p:nvSpPr>
        <p:spPr>
          <a:xfrm flipH="false" flipV="false" rot="0">
            <a:off x="5271622" y="8961486"/>
            <a:ext cx="2115547" cy="215401"/>
          </a:xfrm>
          <a:custGeom>
            <a:avLst/>
            <a:gdLst/>
            <a:ahLst/>
            <a:cxnLst/>
            <a:rect r="r" b="b" t="t" l="l"/>
            <a:pathLst>
              <a:path h="215401" w="2115547">
                <a:moveTo>
                  <a:pt x="0" y="0"/>
                </a:moveTo>
                <a:lnTo>
                  <a:pt x="2115547" y="0"/>
                </a:lnTo>
                <a:lnTo>
                  <a:pt x="2115547" y="215401"/>
                </a:lnTo>
                <a:lnTo>
                  <a:pt x="0" y="2154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46" id="46"/>
          <p:cNvSpPr txBox="true"/>
          <p:nvPr/>
        </p:nvSpPr>
        <p:spPr>
          <a:xfrm rot="0">
            <a:off x="4918674" y="6854749"/>
            <a:ext cx="2869319" cy="1374611"/>
          </a:xfrm>
          <a:prstGeom prst="rect">
            <a:avLst/>
          </a:prstGeom>
        </p:spPr>
        <p:txBody>
          <a:bodyPr anchor="t" rtlCol="false" tIns="0" lIns="0" bIns="0" rIns="0">
            <a:spAutoFit/>
          </a:bodyPr>
          <a:lstStyle/>
          <a:p>
            <a:pPr algn="ctr">
              <a:lnSpc>
                <a:spcPts val="4575"/>
              </a:lnSpc>
              <a:spcBef>
                <a:spcPct val="0"/>
              </a:spcBef>
            </a:pPr>
            <a:r>
              <a:rPr lang="en-US" b="true" sz="3268">
                <a:solidFill>
                  <a:srgbClr val="4249C6"/>
                </a:solidFill>
                <a:latin typeface="Cakerolli Bold"/>
                <a:ea typeface="Cakerolli Bold"/>
                <a:cs typeface="Cakerolli Bold"/>
                <a:sym typeface="Cakerolli Bold"/>
              </a:rPr>
              <a:t>2.1.3. Sơ đồ dữ liệu mức đỉnh </a:t>
            </a:r>
            <a:r>
              <a:rPr lang="en-US" b="true" sz="3268">
                <a:solidFill>
                  <a:srgbClr val="000000"/>
                </a:solidFill>
                <a:latin typeface="Cakerolli Bold"/>
                <a:ea typeface="Cakerolli Bold"/>
                <a:cs typeface="Cakerolli Bold"/>
                <a:sym typeface="Cakerolli Bold"/>
              </a:rPr>
              <a:t> </a:t>
            </a:r>
          </a:p>
        </p:txBody>
      </p:sp>
      <p:sp>
        <p:nvSpPr>
          <p:cNvPr name="TextBox 47" id="47"/>
          <p:cNvSpPr txBox="true"/>
          <p:nvPr/>
        </p:nvSpPr>
        <p:spPr>
          <a:xfrm rot="0">
            <a:off x="12516636" y="6577549"/>
            <a:ext cx="2871364" cy="1919488"/>
          </a:xfrm>
          <a:prstGeom prst="rect">
            <a:avLst/>
          </a:prstGeom>
        </p:spPr>
        <p:txBody>
          <a:bodyPr anchor="t" rtlCol="false" tIns="0" lIns="0" bIns="0" rIns="0">
            <a:spAutoFit/>
          </a:bodyPr>
          <a:lstStyle/>
          <a:p>
            <a:pPr algn="ctr">
              <a:lnSpc>
                <a:spcPts val="4451"/>
              </a:lnSpc>
              <a:spcBef>
                <a:spcPct val="0"/>
              </a:spcBef>
            </a:pPr>
            <a:r>
              <a:rPr lang="en-US" b="true" sz="3179">
                <a:solidFill>
                  <a:srgbClr val="7ED957"/>
                </a:solidFill>
                <a:latin typeface="Cakerolli Bold"/>
                <a:ea typeface="Cakerolli Bold"/>
                <a:cs typeface="Cakerolli Bold"/>
                <a:sym typeface="Cakerolli Bold"/>
              </a:rPr>
              <a:t>2.1.4. Sơ đồ dữ liệu mức dưới đỉnh</a:t>
            </a:r>
          </a:p>
        </p:txBody>
      </p:sp>
    </p:spTree>
  </p:cSld>
  <p:clrMapOvr>
    <a:masterClrMapping/>
  </p:clrMapOvr>
  <p:transition spd="fast">
    <p:circl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3880527" y="3496679"/>
            <a:ext cx="8442604" cy="6158657"/>
          </a:xfrm>
          <a:custGeom>
            <a:avLst/>
            <a:gdLst/>
            <a:ahLst/>
            <a:cxnLst/>
            <a:rect r="r" b="b" t="t" l="l"/>
            <a:pathLst>
              <a:path h="6158657" w="8442604">
                <a:moveTo>
                  <a:pt x="0" y="0"/>
                </a:moveTo>
                <a:lnTo>
                  <a:pt x="8442604" y="0"/>
                </a:lnTo>
                <a:lnTo>
                  <a:pt x="8442604" y="6158657"/>
                </a:lnTo>
                <a:lnTo>
                  <a:pt x="0" y="6158657"/>
                </a:lnTo>
                <a:lnTo>
                  <a:pt x="0" y="0"/>
                </a:lnTo>
                <a:close/>
              </a:path>
            </a:pathLst>
          </a:custGeom>
          <a:blipFill>
            <a:blip r:embed="rId14"/>
            <a:stretch>
              <a:fillRect l="0" t="0" r="0" b="0"/>
            </a:stretch>
          </a:blipFill>
        </p:spPr>
      </p:sp>
      <p:sp>
        <p:nvSpPr>
          <p:cNvPr name="TextBox 35" id="35"/>
          <p:cNvSpPr txBox="true"/>
          <p:nvPr/>
        </p:nvSpPr>
        <p:spPr>
          <a:xfrm rot="0">
            <a:off x="4629901" y="-91225"/>
            <a:ext cx="11132137" cy="1540498"/>
          </a:xfrm>
          <a:prstGeom prst="rect">
            <a:avLst/>
          </a:prstGeom>
        </p:spPr>
        <p:txBody>
          <a:bodyPr anchor="t" rtlCol="false" tIns="0" lIns="0" bIns="0" rIns="0">
            <a:spAutoFit/>
          </a:bodyPr>
          <a:lstStyle/>
          <a:p>
            <a:pPr algn="ctr">
              <a:lnSpc>
                <a:spcPts val="8713"/>
              </a:lnSpc>
              <a:spcBef>
                <a:spcPct val="0"/>
              </a:spcBef>
            </a:pPr>
            <a:r>
              <a:rPr lang="en-US" b="true" sz="6224">
                <a:solidFill>
                  <a:srgbClr val="000000"/>
                </a:solidFill>
                <a:latin typeface="Cakerolli Bold"/>
                <a:ea typeface="Cakerolli Bold"/>
                <a:cs typeface="Cakerolli Bold"/>
                <a:sym typeface="Cakerolli Bold"/>
              </a:rPr>
              <a:t>2.1. Phân tích hệ thống</a:t>
            </a:r>
          </a:p>
        </p:txBody>
      </p:sp>
      <p:sp>
        <p:nvSpPr>
          <p:cNvPr name="TextBox 36" id="36"/>
          <p:cNvSpPr txBox="true"/>
          <p:nvPr/>
        </p:nvSpPr>
        <p:spPr>
          <a:xfrm rot="0">
            <a:off x="2683598" y="1822253"/>
            <a:ext cx="6327483" cy="851296"/>
          </a:xfrm>
          <a:prstGeom prst="rect">
            <a:avLst/>
          </a:prstGeom>
        </p:spPr>
        <p:txBody>
          <a:bodyPr anchor="t" rtlCol="false" tIns="0" lIns="0" bIns="0" rIns="0">
            <a:spAutoFit/>
          </a:bodyPr>
          <a:lstStyle/>
          <a:p>
            <a:pPr algn="ctr">
              <a:lnSpc>
                <a:spcPts val="4879"/>
              </a:lnSpc>
            </a:pPr>
            <a:r>
              <a:rPr lang="en-US" sz="3485" b="true">
                <a:solidFill>
                  <a:srgbClr val="3BAB64"/>
                </a:solidFill>
                <a:latin typeface="Cakerolli Bold"/>
                <a:ea typeface="Cakerolli Bold"/>
                <a:cs typeface="Cakerolli Bold"/>
                <a:sym typeface="Cakerolli Bold"/>
              </a:rPr>
              <a:t>2.1.1. Sơ đồ phân rã chức năng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4021664" y="3980802"/>
            <a:ext cx="11743456" cy="3819714"/>
          </a:xfrm>
          <a:custGeom>
            <a:avLst/>
            <a:gdLst/>
            <a:ahLst/>
            <a:cxnLst/>
            <a:rect r="r" b="b" t="t" l="l"/>
            <a:pathLst>
              <a:path h="3819714" w="11743456">
                <a:moveTo>
                  <a:pt x="0" y="0"/>
                </a:moveTo>
                <a:lnTo>
                  <a:pt x="11743456" y="0"/>
                </a:lnTo>
                <a:lnTo>
                  <a:pt x="11743456" y="3819713"/>
                </a:lnTo>
                <a:lnTo>
                  <a:pt x="0" y="3819713"/>
                </a:lnTo>
                <a:lnTo>
                  <a:pt x="0" y="0"/>
                </a:lnTo>
                <a:close/>
              </a:path>
            </a:pathLst>
          </a:custGeom>
          <a:blipFill>
            <a:blip r:embed="rId14"/>
            <a:stretch>
              <a:fillRect l="0" t="0" r="0" b="0"/>
            </a:stretch>
          </a:blipFill>
        </p:spPr>
      </p:sp>
      <p:sp>
        <p:nvSpPr>
          <p:cNvPr name="TextBox 35" id="35"/>
          <p:cNvSpPr txBox="true"/>
          <p:nvPr/>
        </p:nvSpPr>
        <p:spPr>
          <a:xfrm rot="0">
            <a:off x="4834281" y="-41586"/>
            <a:ext cx="11132137" cy="1540498"/>
          </a:xfrm>
          <a:prstGeom prst="rect">
            <a:avLst/>
          </a:prstGeom>
        </p:spPr>
        <p:txBody>
          <a:bodyPr anchor="t" rtlCol="false" tIns="0" lIns="0" bIns="0" rIns="0">
            <a:spAutoFit/>
          </a:bodyPr>
          <a:lstStyle/>
          <a:p>
            <a:pPr algn="ctr">
              <a:lnSpc>
                <a:spcPts val="8713"/>
              </a:lnSpc>
              <a:spcBef>
                <a:spcPct val="0"/>
              </a:spcBef>
            </a:pPr>
            <a:r>
              <a:rPr lang="en-US" b="true" sz="6224">
                <a:solidFill>
                  <a:srgbClr val="000000"/>
                </a:solidFill>
                <a:latin typeface="Cakerolli Bold"/>
                <a:ea typeface="Cakerolli Bold"/>
                <a:cs typeface="Cakerolli Bold"/>
                <a:sym typeface="Cakerolli Bold"/>
              </a:rPr>
              <a:t>2.1. Phân tích hệ thống</a:t>
            </a:r>
          </a:p>
        </p:txBody>
      </p:sp>
      <p:sp>
        <p:nvSpPr>
          <p:cNvPr name="TextBox 36" id="36"/>
          <p:cNvSpPr txBox="true"/>
          <p:nvPr/>
        </p:nvSpPr>
        <p:spPr>
          <a:xfrm rot="0">
            <a:off x="2788347" y="1713498"/>
            <a:ext cx="6670738" cy="782454"/>
          </a:xfrm>
          <a:prstGeom prst="rect">
            <a:avLst/>
          </a:prstGeom>
        </p:spPr>
        <p:txBody>
          <a:bodyPr anchor="t" rtlCol="false" tIns="0" lIns="0" bIns="0" rIns="0">
            <a:spAutoFit/>
          </a:bodyPr>
          <a:lstStyle/>
          <a:p>
            <a:pPr algn="ctr">
              <a:lnSpc>
                <a:spcPts val="4418"/>
              </a:lnSpc>
            </a:pPr>
            <a:r>
              <a:rPr lang="en-US" sz="3156" b="true">
                <a:solidFill>
                  <a:srgbClr val="E080B4"/>
                </a:solidFill>
                <a:latin typeface="Cakerolli Bold"/>
                <a:ea typeface="Cakerolli Bold"/>
                <a:cs typeface="Cakerolli Bold"/>
                <a:sym typeface="Cakerolli Bold"/>
              </a:rPr>
              <a:t>2.1.2. Sơ đồ dữ liệu mức ngữ cảnh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5447033" y="2801354"/>
            <a:ext cx="7393935" cy="7117862"/>
          </a:xfrm>
          <a:custGeom>
            <a:avLst/>
            <a:gdLst/>
            <a:ahLst/>
            <a:cxnLst/>
            <a:rect r="r" b="b" t="t" l="l"/>
            <a:pathLst>
              <a:path h="7117862" w="7393935">
                <a:moveTo>
                  <a:pt x="0" y="0"/>
                </a:moveTo>
                <a:lnTo>
                  <a:pt x="7393934" y="0"/>
                </a:lnTo>
                <a:lnTo>
                  <a:pt x="7393934" y="7117862"/>
                </a:lnTo>
                <a:lnTo>
                  <a:pt x="0" y="7117862"/>
                </a:lnTo>
                <a:lnTo>
                  <a:pt x="0" y="0"/>
                </a:lnTo>
                <a:close/>
              </a:path>
            </a:pathLst>
          </a:custGeom>
          <a:blipFill>
            <a:blip r:embed="rId14"/>
            <a:stretch>
              <a:fillRect l="0" t="0" r="0" b="0"/>
            </a:stretch>
          </a:blipFill>
        </p:spPr>
      </p:sp>
      <p:sp>
        <p:nvSpPr>
          <p:cNvPr name="TextBox 35" id="35"/>
          <p:cNvSpPr txBox="true"/>
          <p:nvPr/>
        </p:nvSpPr>
        <p:spPr>
          <a:xfrm rot="0">
            <a:off x="4834281" y="-41586"/>
            <a:ext cx="11132137" cy="1540498"/>
          </a:xfrm>
          <a:prstGeom prst="rect">
            <a:avLst/>
          </a:prstGeom>
        </p:spPr>
        <p:txBody>
          <a:bodyPr anchor="t" rtlCol="false" tIns="0" lIns="0" bIns="0" rIns="0">
            <a:spAutoFit/>
          </a:bodyPr>
          <a:lstStyle/>
          <a:p>
            <a:pPr algn="ctr">
              <a:lnSpc>
                <a:spcPts val="8713"/>
              </a:lnSpc>
              <a:spcBef>
                <a:spcPct val="0"/>
              </a:spcBef>
            </a:pPr>
            <a:r>
              <a:rPr lang="en-US" b="true" sz="6224">
                <a:solidFill>
                  <a:srgbClr val="000000"/>
                </a:solidFill>
                <a:latin typeface="Cakerolli Bold"/>
                <a:ea typeface="Cakerolli Bold"/>
                <a:cs typeface="Cakerolli Bold"/>
                <a:sym typeface="Cakerolli Bold"/>
              </a:rPr>
              <a:t>2.1. Phân tích hệ thống</a:t>
            </a:r>
          </a:p>
        </p:txBody>
      </p:sp>
      <p:sp>
        <p:nvSpPr>
          <p:cNvPr name="TextBox 36" id="36"/>
          <p:cNvSpPr txBox="true"/>
          <p:nvPr/>
        </p:nvSpPr>
        <p:spPr>
          <a:xfrm rot="0">
            <a:off x="2268523" y="1713498"/>
            <a:ext cx="6875477" cy="798199"/>
          </a:xfrm>
          <a:prstGeom prst="rect">
            <a:avLst/>
          </a:prstGeom>
        </p:spPr>
        <p:txBody>
          <a:bodyPr anchor="t" rtlCol="false" tIns="0" lIns="0" bIns="0" rIns="0">
            <a:spAutoFit/>
          </a:bodyPr>
          <a:lstStyle/>
          <a:p>
            <a:pPr algn="ctr">
              <a:lnSpc>
                <a:spcPts val="4575"/>
              </a:lnSpc>
              <a:spcBef>
                <a:spcPct val="0"/>
              </a:spcBef>
            </a:pPr>
            <a:r>
              <a:rPr lang="en-US" b="true" sz="3268">
                <a:solidFill>
                  <a:srgbClr val="4249C6"/>
                </a:solidFill>
                <a:latin typeface="Cakerolli Bold"/>
                <a:ea typeface="Cakerolli Bold"/>
                <a:cs typeface="Cakerolli Bold"/>
                <a:sym typeface="Cakerolli Bold"/>
              </a:rPr>
              <a:t>2.1.3. Sơ đồ dữ liệu mức đỉnh </a:t>
            </a:r>
            <a:r>
              <a:rPr lang="en-US" b="true" sz="3268">
                <a:solidFill>
                  <a:srgbClr val="000000"/>
                </a:solidFill>
                <a:latin typeface="Cakerolli Bold"/>
                <a:ea typeface="Cakerolli Bold"/>
                <a:cs typeface="Cakerolli Bold"/>
                <a:sym typeface="Cakerolli Bold"/>
              </a:rPr>
              <a:t>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3425422" y="2827816"/>
            <a:ext cx="9058417" cy="6919798"/>
          </a:xfrm>
          <a:custGeom>
            <a:avLst/>
            <a:gdLst/>
            <a:ahLst/>
            <a:cxnLst/>
            <a:rect r="r" b="b" t="t" l="l"/>
            <a:pathLst>
              <a:path h="6919798" w="9058417">
                <a:moveTo>
                  <a:pt x="0" y="0"/>
                </a:moveTo>
                <a:lnTo>
                  <a:pt x="9058417" y="0"/>
                </a:lnTo>
                <a:lnTo>
                  <a:pt x="9058417" y="6919798"/>
                </a:lnTo>
                <a:lnTo>
                  <a:pt x="0" y="6919798"/>
                </a:lnTo>
                <a:lnTo>
                  <a:pt x="0" y="0"/>
                </a:lnTo>
                <a:close/>
              </a:path>
            </a:pathLst>
          </a:custGeom>
          <a:blipFill>
            <a:blip r:embed="rId14"/>
            <a:stretch>
              <a:fillRect l="0" t="-816" r="0" b="-601"/>
            </a:stretch>
          </a:blipFill>
        </p:spPr>
      </p:sp>
      <p:sp>
        <p:nvSpPr>
          <p:cNvPr name="TextBox 35" id="35"/>
          <p:cNvSpPr txBox="true"/>
          <p:nvPr/>
        </p:nvSpPr>
        <p:spPr>
          <a:xfrm rot="0">
            <a:off x="5004061" y="-245966"/>
            <a:ext cx="11132137" cy="1540498"/>
          </a:xfrm>
          <a:prstGeom prst="rect">
            <a:avLst/>
          </a:prstGeom>
        </p:spPr>
        <p:txBody>
          <a:bodyPr anchor="t" rtlCol="false" tIns="0" lIns="0" bIns="0" rIns="0">
            <a:spAutoFit/>
          </a:bodyPr>
          <a:lstStyle/>
          <a:p>
            <a:pPr algn="ctr">
              <a:lnSpc>
                <a:spcPts val="8713"/>
              </a:lnSpc>
              <a:spcBef>
                <a:spcPct val="0"/>
              </a:spcBef>
            </a:pPr>
            <a:r>
              <a:rPr lang="en-US" b="true" sz="6224">
                <a:solidFill>
                  <a:srgbClr val="000000"/>
                </a:solidFill>
                <a:latin typeface="Cakerolli Bold"/>
                <a:ea typeface="Cakerolli Bold"/>
                <a:cs typeface="Cakerolli Bold"/>
                <a:sym typeface="Cakerolli Bold"/>
              </a:rPr>
              <a:t>2.1. Phân tích hệ thống</a:t>
            </a:r>
          </a:p>
        </p:txBody>
      </p:sp>
      <p:sp>
        <p:nvSpPr>
          <p:cNvPr name="TextBox 36" id="36"/>
          <p:cNvSpPr txBox="true"/>
          <p:nvPr/>
        </p:nvSpPr>
        <p:spPr>
          <a:xfrm rot="0">
            <a:off x="3798649" y="1114720"/>
            <a:ext cx="7349891" cy="817324"/>
          </a:xfrm>
          <a:prstGeom prst="rect">
            <a:avLst/>
          </a:prstGeom>
        </p:spPr>
        <p:txBody>
          <a:bodyPr anchor="t" rtlCol="false" tIns="0" lIns="0" bIns="0" rIns="0">
            <a:spAutoFit/>
          </a:bodyPr>
          <a:lstStyle/>
          <a:p>
            <a:pPr algn="ctr">
              <a:lnSpc>
                <a:spcPts val="4664"/>
              </a:lnSpc>
              <a:spcBef>
                <a:spcPct val="0"/>
              </a:spcBef>
            </a:pPr>
            <a:r>
              <a:rPr lang="en-US" b="true" sz="3331">
                <a:solidFill>
                  <a:srgbClr val="4249C6"/>
                </a:solidFill>
                <a:latin typeface="Cakerolli Bold"/>
                <a:ea typeface="Cakerolli Bold"/>
                <a:cs typeface="Cakerolli Bold"/>
                <a:sym typeface="Cakerolli Bold"/>
              </a:rPr>
              <a:t>2.1.4. Sơ đồ dữ liệu mức dưới đỉnh</a:t>
            </a:r>
          </a:p>
        </p:txBody>
      </p:sp>
      <p:sp>
        <p:nvSpPr>
          <p:cNvPr name="TextBox 37" id="37"/>
          <p:cNvSpPr txBox="true"/>
          <p:nvPr/>
        </p:nvSpPr>
        <p:spPr>
          <a:xfrm rot="0">
            <a:off x="1169095" y="1844001"/>
            <a:ext cx="12413963" cy="817324"/>
          </a:xfrm>
          <a:prstGeom prst="rect">
            <a:avLst/>
          </a:prstGeom>
        </p:spPr>
        <p:txBody>
          <a:bodyPr anchor="t" rtlCol="false" tIns="0" lIns="0" bIns="0" rIns="0">
            <a:spAutoFit/>
          </a:bodyPr>
          <a:lstStyle/>
          <a:p>
            <a:pPr algn="ctr">
              <a:lnSpc>
                <a:spcPts val="4664"/>
              </a:lnSpc>
              <a:spcBef>
                <a:spcPct val="0"/>
              </a:spcBef>
            </a:pPr>
            <a:r>
              <a:rPr lang="en-US" b="true" sz="3331">
                <a:solidFill>
                  <a:srgbClr val="4249C6"/>
                </a:solidFill>
                <a:latin typeface="Cakerolli Bold"/>
                <a:ea typeface="Cakerolli Bold"/>
                <a:cs typeface="Cakerolli Bold"/>
                <a:sym typeface="Cakerolli Bold"/>
              </a:rPr>
              <a:t>2.1.4.1. Sơ đồ mức dưới đỉnh của chức năng quản lí khách hàng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2407268" y="3283704"/>
            <a:ext cx="11743456" cy="5537967"/>
          </a:xfrm>
          <a:custGeom>
            <a:avLst/>
            <a:gdLst/>
            <a:ahLst/>
            <a:cxnLst/>
            <a:rect r="r" b="b" t="t" l="l"/>
            <a:pathLst>
              <a:path h="5537967" w="11743456">
                <a:moveTo>
                  <a:pt x="0" y="0"/>
                </a:moveTo>
                <a:lnTo>
                  <a:pt x="11743456" y="0"/>
                </a:lnTo>
                <a:lnTo>
                  <a:pt x="11743456" y="5537966"/>
                </a:lnTo>
                <a:lnTo>
                  <a:pt x="0" y="5537966"/>
                </a:lnTo>
                <a:lnTo>
                  <a:pt x="0" y="0"/>
                </a:lnTo>
                <a:close/>
              </a:path>
            </a:pathLst>
          </a:custGeom>
          <a:blipFill>
            <a:blip r:embed="rId14"/>
            <a:stretch>
              <a:fillRect l="0" t="0" r="0" b="0"/>
            </a:stretch>
          </a:blipFill>
        </p:spPr>
      </p:sp>
      <p:sp>
        <p:nvSpPr>
          <p:cNvPr name="TextBox 35" id="35"/>
          <p:cNvSpPr txBox="true"/>
          <p:nvPr/>
        </p:nvSpPr>
        <p:spPr>
          <a:xfrm rot="0">
            <a:off x="4834281" y="-486180"/>
            <a:ext cx="11132137" cy="1540498"/>
          </a:xfrm>
          <a:prstGeom prst="rect">
            <a:avLst/>
          </a:prstGeom>
        </p:spPr>
        <p:txBody>
          <a:bodyPr anchor="t" rtlCol="false" tIns="0" lIns="0" bIns="0" rIns="0">
            <a:spAutoFit/>
          </a:bodyPr>
          <a:lstStyle/>
          <a:p>
            <a:pPr algn="ctr">
              <a:lnSpc>
                <a:spcPts val="8713"/>
              </a:lnSpc>
              <a:spcBef>
                <a:spcPct val="0"/>
              </a:spcBef>
            </a:pPr>
            <a:r>
              <a:rPr lang="en-US" b="true" sz="6224">
                <a:solidFill>
                  <a:srgbClr val="000000"/>
                </a:solidFill>
                <a:latin typeface="Cakerolli Bold"/>
                <a:ea typeface="Cakerolli Bold"/>
                <a:cs typeface="Cakerolli Bold"/>
                <a:sym typeface="Cakerolli Bold"/>
              </a:rPr>
              <a:t>2.1. Phân tích hệ thống</a:t>
            </a:r>
          </a:p>
        </p:txBody>
      </p:sp>
      <p:sp>
        <p:nvSpPr>
          <p:cNvPr name="TextBox 36" id="36"/>
          <p:cNvSpPr txBox="true"/>
          <p:nvPr/>
        </p:nvSpPr>
        <p:spPr>
          <a:xfrm rot="0">
            <a:off x="2556442" y="1059186"/>
            <a:ext cx="6875477" cy="798199"/>
          </a:xfrm>
          <a:prstGeom prst="rect">
            <a:avLst/>
          </a:prstGeom>
        </p:spPr>
        <p:txBody>
          <a:bodyPr anchor="t" rtlCol="false" tIns="0" lIns="0" bIns="0" rIns="0">
            <a:spAutoFit/>
          </a:bodyPr>
          <a:lstStyle/>
          <a:p>
            <a:pPr algn="ctr">
              <a:lnSpc>
                <a:spcPts val="4575"/>
              </a:lnSpc>
              <a:spcBef>
                <a:spcPct val="0"/>
              </a:spcBef>
            </a:pPr>
            <a:r>
              <a:rPr lang="en-US" b="true" sz="3268">
                <a:solidFill>
                  <a:srgbClr val="4249C6"/>
                </a:solidFill>
                <a:latin typeface="Cakerolli Bold"/>
                <a:ea typeface="Cakerolli Bold"/>
                <a:cs typeface="Cakerolli Bold"/>
                <a:sym typeface="Cakerolli Bold"/>
              </a:rPr>
              <a:t>2.1.3. Sơ đồ dữ liệu mức đỉnh </a:t>
            </a:r>
            <a:r>
              <a:rPr lang="en-US" b="true" sz="3268">
                <a:solidFill>
                  <a:srgbClr val="000000"/>
                </a:solidFill>
                <a:latin typeface="Cakerolli Bold"/>
                <a:ea typeface="Cakerolli Bold"/>
                <a:cs typeface="Cakerolli Bold"/>
                <a:sym typeface="Cakerolli Bold"/>
              </a:rPr>
              <a:t> </a:t>
            </a:r>
          </a:p>
        </p:txBody>
      </p:sp>
      <p:sp>
        <p:nvSpPr>
          <p:cNvPr name="TextBox 37" id="37"/>
          <p:cNvSpPr txBox="true"/>
          <p:nvPr/>
        </p:nvSpPr>
        <p:spPr>
          <a:xfrm rot="0">
            <a:off x="69876" y="1984030"/>
            <a:ext cx="12413963" cy="817324"/>
          </a:xfrm>
          <a:prstGeom prst="rect">
            <a:avLst/>
          </a:prstGeom>
        </p:spPr>
        <p:txBody>
          <a:bodyPr anchor="t" rtlCol="false" tIns="0" lIns="0" bIns="0" rIns="0">
            <a:spAutoFit/>
          </a:bodyPr>
          <a:lstStyle/>
          <a:p>
            <a:pPr algn="ctr">
              <a:lnSpc>
                <a:spcPts val="4664"/>
              </a:lnSpc>
              <a:spcBef>
                <a:spcPct val="0"/>
              </a:spcBef>
            </a:pPr>
            <a:r>
              <a:rPr lang="en-US" b="true" sz="3331">
                <a:solidFill>
                  <a:srgbClr val="4249C6"/>
                </a:solidFill>
                <a:latin typeface="Cakerolli Bold"/>
                <a:ea typeface="Cakerolli Bold"/>
                <a:cs typeface="Cakerolli Bold"/>
                <a:sym typeface="Cakerolli Bold"/>
              </a:rPr>
              <a:t>2.1.4.1. Sơ đồ mức dưới đỉnh của chức năng thanh toán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9147761" y="2237373"/>
            <a:ext cx="8144397" cy="4140783"/>
          </a:xfrm>
          <a:custGeom>
            <a:avLst/>
            <a:gdLst/>
            <a:ahLst/>
            <a:cxnLst/>
            <a:rect r="r" b="b" t="t" l="l"/>
            <a:pathLst>
              <a:path h="4140783" w="8144397">
                <a:moveTo>
                  <a:pt x="0" y="0"/>
                </a:moveTo>
                <a:lnTo>
                  <a:pt x="8144398" y="0"/>
                </a:lnTo>
                <a:lnTo>
                  <a:pt x="8144398" y="4140783"/>
                </a:lnTo>
                <a:lnTo>
                  <a:pt x="0" y="4140783"/>
                </a:lnTo>
                <a:lnTo>
                  <a:pt x="0" y="0"/>
                </a:lnTo>
                <a:close/>
              </a:path>
            </a:pathLst>
          </a:custGeom>
          <a:blipFill>
            <a:blip r:embed="rId14"/>
            <a:stretch>
              <a:fillRect l="0" t="0" r="0" b="0"/>
            </a:stretch>
          </a:blipFill>
        </p:spPr>
      </p:sp>
      <p:sp>
        <p:nvSpPr>
          <p:cNvPr name="TextBox 35" id="35"/>
          <p:cNvSpPr txBox="true"/>
          <p:nvPr/>
        </p:nvSpPr>
        <p:spPr>
          <a:xfrm rot="0">
            <a:off x="2151803" y="453481"/>
            <a:ext cx="13334894" cy="1540498"/>
          </a:xfrm>
          <a:prstGeom prst="rect">
            <a:avLst/>
          </a:prstGeom>
        </p:spPr>
        <p:txBody>
          <a:bodyPr anchor="t" rtlCol="false" tIns="0" lIns="0" bIns="0" rIns="0">
            <a:spAutoFit/>
          </a:bodyPr>
          <a:lstStyle/>
          <a:p>
            <a:pPr algn="ctr">
              <a:lnSpc>
                <a:spcPts val="8713"/>
              </a:lnSpc>
              <a:spcBef>
                <a:spcPct val="0"/>
              </a:spcBef>
            </a:pPr>
            <a:r>
              <a:rPr lang="en-US" b="true" sz="6224">
                <a:solidFill>
                  <a:srgbClr val="000000"/>
                </a:solidFill>
                <a:latin typeface="Cakerolli Bold"/>
                <a:ea typeface="Cakerolli Bold"/>
                <a:cs typeface="Cakerolli Bold"/>
                <a:sym typeface="Cakerolli Bold"/>
              </a:rPr>
              <a:t>2.2 Phân tích hệ thống về dữ liệu</a:t>
            </a:r>
          </a:p>
        </p:txBody>
      </p:sp>
      <p:sp>
        <p:nvSpPr>
          <p:cNvPr name="TextBox 36" id="36"/>
          <p:cNvSpPr txBox="true"/>
          <p:nvPr/>
        </p:nvSpPr>
        <p:spPr>
          <a:xfrm rot="0">
            <a:off x="6276858" y="-377912"/>
            <a:ext cx="11745459" cy="1210913"/>
          </a:xfrm>
          <a:prstGeom prst="rect">
            <a:avLst/>
          </a:prstGeom>
        </p:spPr>
        <p:txBody>
          <a:bodyPr anchor="t" rtlCol="false" tIns="0" lIns="0" bIns="0" rIns="0">
            <a:spAutoFit/>
          </a:bodyPr>
          <a:lstStyle/>
          <a:p>
            <a:pPr algn="l">
              <a:lnSpc>
                <a:spcPts val="6877"/>
              </a:lnSpc>
            </a:pPr>
            <a:r>
              <a:rPr lang="en-US" sz="4912" b="true">
                <a:solidFill>
                  <a:srgbClr val="485B90"/>
                </a:solidFill>
                <a:latin typeface="Cakerolli Ultra-Bold"/>
                <a:ea typeface="Cakerolli Ultra-Bold"/>
                <a:cs typeface="Cakerolli Ultra-Bold"/>
                <a:sym typeface="Cakerolli Ultra-Bold"/>
              </a:rPr>
              <a:t>Chương 2: Phân tích &amp; thiết kế hệ thống </a:t>
            </a:r>
          </a:p>
        </p:txBody>
      </p:sp>
      <p:sp>
        <p:nvSpPr>
          <p:cNvPr name="TextBox 37" id="37"/>
          <p:cNvSpPr txBox="true"/>
          <p:nvPr/>
        </p:nvSpPr>
        <p:spPr>
          <a:xfrm rot="0">
            <a:off x="1738395" y="1955878"/>
            <a:ext cx="6211389" cy="4188408"/>
          </a:xfrm>
          <a:prstGeom prst="rect">
            <a:avLst/>
          </a:prstGeom>
        </p:spPr>
        <p:txBody>
          <a:bodyPr anchor="t" rtlCol="false" tIns="0" lIns="0" bIns="0" rIns="0">
            <a:spAutoFit/>
          </a:bodyPr>
          <a:lstStyle/>
          <a:p>
            <a:pPr algn="l">
              <a:lnSpc>
                <a:spcPts val="3963"/>
              </a:lnSpc>
            </a:pPr>
            <a:r>
              <a:rPr lang="en-US" sz="2831" b="true">
                <a:solidFill>
                  <a:srgbClr val="000000"/>
                </a:solidFill>
                <a:latin typeface="Cakerolli Bold"/>
                <a:ea typeface="Cakerolli Bold"/>
                <a:cs typeface="Cakerolli Bold"/>
                <a:sym typeface="Cakerolli Bold"/>
              </a:rPr>
              <a:t>a. Xác định thực thể :</a:t>
            </a:r>
          </a:p>
          <a:p>
            <a:pPr algn="just">
              <a:lnSpc>
                <a:spcPts val="3963"/>
              </a:lnSpc>
            </a:pPr>
            <a:r>
              <a:rPr lang="en-US" sz="2831" b="true">
                <a:solidFill>
                  <a:srgbClr val="000000"/>
                </a:solidFill>
                <a:latin typeface="Cakerolli Bold"/>
                <a:ea typeface="Cakerolli Bold"/>
                <a:cs typeface="Cakerolli Bold"/>
                <a:sym typeface="Cakerolli Bold"/>
              </a:rPr>
              <a:t>-Thực thể mang tính thống kê: món ăn, khách hàng.</a:t>
            </a:r>
          </a:p>
          <a:p>
            <a:pPr algn="just">
              <a:lnSpc>
                <a:spcPts val="3963"/>
              </a:lnSpc>
            </a:pPr>
            <a:r>
              <a:rPr lang="en-US" sz="2831" b="true">
                <a:solidFill>
                  <a:srgbClr val="000000"/>
                </a:solidFill>
                <a:latin typeface="Cakerolli Bold"/>
                <a:ea typeface="Cakerolli Bold"/>
                <a:cs typeface="Cakerolli Bold"/>
                <a:sym typeface="Cakerolli Bold"/>
              </a:rPr>
              <a:t>-Thực thể mang tính liên kết: đơn đặt bàn, phiếu đặt món ăn, hóa đơn thanh toán.</a:t>
            </a:r>
          </a:p>
          <a:p>
            <a:pPr algn="just">
              <a:lnSpc>
                <a:spcPts val="3963"/>
              </a:lnSpc>
            </a:pPr>
            <a:r>
              <a:rPr lang="en-US" sz="2831" b="true">
                <a:solidFill>
                  <a:srgbClr val="000000"/>
                </a:solidFill>
                <a:latin typeface="Cakerolli Bold"/>
                <a:ea typeface="Cakerolli Bold"/>
                <a:cs typeface="Cakerolli Bold"/>
                <a:sym typeface="Cakerolli Bold"/>
              </a:rPr>
              <a:t>b. Xác định mối liên kết :</a:t>
            </a:r>
          </a:p>
          <a:p>
            <a:pPr algn="just">
              <a:lnSpc>
                <a:spcPts val="3963"/>
              </a:lnSpc>
              <a:spcBef>
                <a:spcPct val="0"/>
              </a:spcBef>
            </a:pPr>
          </a:p>
        </p:txBody>
      </p:sp>
      <p:sp>
        <p:nvSpPr>
          <p:cNvPr name="Freeform 38" id="38"/>
          <p:cNvSpPr/>
          <p:nvPr/>
        </p:nvSpPr>
        <p:spPr>
          <a:xfrm flipH="false" flipV="false" rot="0">
            <a:off x="1651762" y="6625806"/>
            <a:ext cx="3905389" cy="2492348"/>
          </a:xfrm>
          <a:custGeom>
            <a:avLst/>
            <a:gdLst/>
            <a:ahLst/>
            <a:cxnLst/>
            <a:rect r="r" b="b" t="t" l="l"/>
            <a:pathLst>
              <a:path h="2492348" w="3905389">
                <a:moveTo>
                  <a:pt x="0" y="0"/>
                </a:moveTo>
                <a:lnTo>
                  <a:pt x="3905389" y="0"/>
                </a:lnTo>
                <a:lnTo>
                  <a:pt x="3905389" y="2492348"/>
                </a:lnTo>
                <a:lnTo>
                  <a:pt x="0" y="249234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9" id="39"/>
          <p:cNvSpPr/>
          <p:nvPr/>
        </p:nvSpPr>
        <p:spPr>
          <a:xfrm flipH="false" flipV="false" rot="0">
            <a:off x="10370437" y="6652917"/>
            <a:ext cx="3905389" cy="2492348"/>
          </a:xfrm>
          <a:custGeom>
            <a:avLst/>
            <a:gdLst/>
            <a:ahLst/>
            <a:cxnLst/>
            <a:rect r="r" b="b" t="t" l="l"/>
            <a:pathLst>
              <a:path h="2492348" w="3905389">
                <a:moveTo>
                  <a:pt x="0" y="0"/>
                </a:moveTo>
                <a:lnTo>
                  <a:pt x="3905389" y="0"/>
                </a:lnTo>
                <a:lnTo>
                  <a:pt x="3905389" y="2492348"/>
                </a:lnTo>
                <a:lnTo>
                  <a:pt x="0" y="249234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40" id="40"/>
          <p:cNvSpPr txBox="true"/>
          <p:nvPr/>
        </p:nvSpPr>
        <p:spPr>
          <a:xfrm rot="0">
            <a:off x="1971193" y="7063172"/>
            <a:ext cx="3266527" cy="1357513"/>
          </a:xfrm>
          <a:prstGeom prst="rect">
            <a:avLst/>
          </a:prstGeom>
        </p:spPr>
        <p:txBody>
          <a:bodyPr anchor="t" rtlCol="false" tIns="0" lIns="0" bIns="0" rIns="0">
            <a:spAutoFit/>
          </a:bodyPr>
          <a:lstStyle/>
          <a:p>
            <a:pPr algn="ctr">
              <a:lnSpc>
                <a:spcPts val="4451"/>
              </a:lnSpc>
              <a:spcBef>
                <a:spcPct val="0"/>
              </a:spcBef>
            </a:pPr>
            <a:r>
              <a:rPr lang="en-US" b="true" sz="3179">
                <a:solidFill>
                  <a:srgbClr val="000000"/>
                </a:solidFill>
                <a:latin typeface="Cakerolli Bold"/>
                <a:ea typeface="Cakerolli Bold"/>
                <a:cs typeface="Cakerolli Bold"/>
                <a:sym typeface="Cakerolli Bold"/>
              </a:rPr>
              <a:t>2.2.1. Mô hình quan hệ ER </a:t>
            </a:r>
          </a:p>
        </p:txBody>
      </p:sp>
      <p:sp>
        <p:nvSpPr>
          <p:cNvPr name="TextBox 41" id="41"/>
          <p:cNvSpPr txBox="true"/>
          <p:nvPr/>
        </p:nvSpPr>
        <p:spPr>
          <a:xfrm rot="0">
            <a:off x="10574816" y="7063172"/>
            <a:ext cx="3496630" cy="1357513"/>
          </a:xfrm>
          <a:prstGeom prst="rect">
            <a:avLst/>
          </a:prstGeom>
        </p:spPr>
        <p:txBody>
          <a:bodyPr anchor="t" rtlCol="false" tIns="0" lIns="0" bIns="0" rIns="0">
            <a:spAutoFit/>
          </a:bodyPr>
          <a:lstStyle/>
          <a:p>
            <a:pPr algn="ctr">
              <a:lnSpc>
                <a:spcPts val="4451"/>
              </a:lnSpc>
              <a:spcBef>
                <a:spcPct val="0"/>
              </a:spcBef>
            </a:pPr>
            <a:r>
              <a:rPr lang="en-US" b="true" sz="3179">
                <a:solidFill>
                  <a:srgbClr val="000000"/>
                </a:solidFill>
                <a:latin typeface="Cakerolli Bold"/>
                <a:ea typeface="Cakerolli Bold"/>
                <a:cs typeface="Cakerolli Bold"/>
                <a:sym typeface="Cakerolli Bold"/>
              </a:rPr>
              <a:t>2.2.2. Các bảng quan hệ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2529373" y="2238385"/>
            <a:ext cx="12625326" cy="6950574"/>
          </a:xfrm>
          <a:custGeom>
            <a:avLst/>
            <a:gdLst/>
            <a:ahLst/>
            <a:cxnLst/>
            <a:rect r="r" b="b" t="t" l="l"/>
            <a:pathLst>
              <a:path h="6950574" w="12625326">
                <a:moveTo>
                  <a:pt x="0" y="0"/>
                </a:moveTo>
                <a:lnTo>
                  <a:pt x="12625326" y="0"/>
                </a:lnTo>
                <a:lnTo>
                  <a:pt x="12625326" y="6950574"/>
                </a:lnTo>
                <a:lnTo>
                  <a:pt x="0" y="6950574"/>
                </a:lnTo>
                <a:lnTo>
                  <a:pt x="0" y="0"/>
                </a:lnTo>
                <a:close/>
              </a:path>
            </a:pathLst>
          </a:custGeom>
          <a:blipFill>
            <a:blip r:embed="rId14"/>
            <a:stretch>
              <a:fillRect l="0" t="0" r="0" b="0"/>
            </a:stretch>
          </a:blipFill>
        </p:spPr>
      </p:sp>
      <p:sp>
        <p:nvSpPr>
          <p:cNvPr name="TextBox 35" id="35"/>
          <p:cNvSpPr txBox="true"/>
          <p:nvPr/>
        </p:nvSpPr>
        <p:spPr>
          <a:xfrm rot="0">
            <a:off x="6276858" y="-321775"/>
            <a:ext cx="10320418" cy="1306937"/>
          </a:xfrm>
          <a:prstGeom prst="rect">
            <a:avLst/>
          </a:prstGeom>
        </p:spPr>
        <p:txBody>
          <a:bodyPr anchor="t" rtlCol="false" tIns="0" lIns="0" bIns="0" rIns="0">
            <a:spAutoFit/>
          </a:bodyPr>
          <a:lstStyle/>
          <a:p>
            <a:pPr algn="ctr">
              <a:lnSpc>
                <a:spcPts val="7432"/>
              </a:lnSpc>
              <a:spcBef>
                <a:spcPct val="0"/>
              </a:spcBef>
            </a:pPr>
            <a:r>
              <a:rPr lang="en-US" b="true" sz="5308">
                <a:solidFill>
                  <a:srgbClr val="000000"/>
                </a:solidFill>
                <a:latin typeface="Cakerolli Bold"/>
                <a:ea typeface="Cakerolli Bold"/>
                <a:cs typeface="Cakerolli Bold"/>
                <a:sym typeface="Cakerolli Bold"/>
              </a:rPr>
              <a:t>2.2 Phân tích hệ thống về dữ liệu</a:t>
            </a:r>
          </a:p>
        </p:txBody>
      </p:sp>
      <p:sp>
        <p:nvSpPr>
          <p:cNvPr name="TextBox 36" id="36"/>
          <p:cNvSpPr txBox="true"/>
          <p:nvPr/>
        </p:nvSpPr>
        <p:spPr>
          <a:xfrm rot="0">
            <a:off x="2556442" y="1056880"/>
            <a:ext cx="6875477" cy="802812"/>
          </a:xfrm>
          <a:prstGeom prst="rect">
            <a:avLst/>
          </a:prstGeom>
        </p:spPr>
        <p:txBody>
          <a:bodyPr anchor="t" rtlCol="false" tIns="0" lIns="0" bIns="0" rIns="0">
            <a:spAutoFit/>
          </a:bodyPr>
          <a:lstStyle/>
          <a:p>
            <a:pPr algn="ctr">
              <a:lnSpc>
                <a:spcPts val="4575"/>
              </a:lnSpc>
              <a:spcBef>
                <a:spcPct val="0"/>
              </a:spcBef>
            </a:pPr>
            <a:r>
              <a:rPr lang="en-US" b="true" sz="3268">
                <a:solidFill>
                  <a:srgbClr val="224C2F"/>
                </a:solidFill>
                <a:latin typeface="Cakerolli Bold"/>
                <a:ea typeface="Cakerolli Bold"/>
                <a:cs typeface="Cakerolli Bold"/>
                <a:sym typeface="Cakerolli Bold"/>
              </a:rPr>
              <a:t>2.2.1. Mô hình quan hệ ER</a:t>
            </a:r>
            <a:r>
              <a:rPr lang="en-US" b="true" sz="3268">
                <a:solidFill>
                  <a:srgbClr val="224C2F"/>
                </a:solidFill>
                <a:latin typeface="Cakerolli Bold"/>
                <a:ea typeface="Cakerolli Bold"/>
                <a:cs typeface="Cakerolli Bold"/>
                <a:sym typeface="Cakerolli Bold"/>
              </a:rPr>
              <a:t>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2738113" y="3283704"/>
            <a:ext cx="13084930" cy="4762128"/>
          </a:xfrm>
          <a:custGeom>
            <a:avLst/>
            <a:gdLst/>
            <a:ahLst/>
            <a:cxnLst/>
            <a:rect r="r" b="b" t="t" l="l"/>
            <a:pathLst>
              <a:path h="4762128" w="13084930">
                <a:moveTo>
                  <a:pt x="0" y="0"/>
                </a:moveTo>
                <a:lnTo>
                  <a:pt x="13084929" y="0"/>
                </a:lnTo>
                <a:lnTo>
                  <a:pt x="13084929" y="4762128"/>
                </a:lnTo>
                <a:lnTo>
                  <a:pt x="0" y="4762128"/>
                </a:lnTo>
                <a:lnTo>
                  <a:pt x="0" y="0"/>
                </a:lnTo>
                <a:close/>
              </a:path>
            </a:pathLst>
          </a:custGeom>
          <a:blipFill>
            <a:blip r:embed="rId14"/>
            <a:stretch>
              <a:fillRect l="0" t="0" r="0" b="0"/>
            </a:stretch>
          </a:blipFill>
        </p:spPr>
      </p:sp>
      <p:sp>
        <p:nvSpPr>
          <p:cNvPr name="TextBox 35" id="35"/>
          <p:cNvSpPr txBox="true"/>
          <p:nvPr/>
        </p:nvSpPr>
        <p:spPr>
          <a:xfrm rot="0">
            <a:off x="5994181" y="-321080"/>
            <a:ext cx="10972567" cy="1374635"/>
          </a:xfrm>
          <a:prstGeom prst="rect">
            <a:avLst/>
          </a:prstGeom>
        </p:spPr>
        <p:txBody>
          <a:bodyPr anchor="t" rtlCol="false" tIns="0" lIns="0" bIns="0" rIns="0">
            <a:spAutoFit/>
          </a:bodyPr>
          <a:lstStyle/>
          <a:p>
            <a:pPr algn="ctr">
              <a:lnSpc>
                <a:spcPts val="7883"/>
              </a:lnSpc>
              <a:spcBef>
                <a:spcPct val="0"/>
              </a:spcBef>
            </a:pPr>
            <a:r>
              <a:rPr lang="en-US" b="true" sz="5630">
                <a:solidFill>
                  <a:srgbClr val="000000"/>
                </a:solidFill>
                <a:latin typeface="Cakerolli Bold"/>
                <a:ea typeface="Cakerolli Bold"/>
                <a:cs typeface="Cakerolli Bold"/>
                <a:sym typeface="Cakerolli Bold"/>
              </a:rPr>
              <a:t>2.2 Phân tích hệ thống về dữ liệu</a:t>
            </a:r>
          </a:p>
        </p:txBody>
      </p:sp>
      <p:sp>
        <p:nvSpPr>
          <p:cNvPr name="TextBox 36" id="36"/>
          <p:cNvSpPr txBox="true"/>
          <p:nvPr/>
        </p:nvSpPr>
        <p:spPr>
          <a:xfrm rot="0">
            <a:off x="2738113" y="1129233"/>
            <a:ext cx="6875477" cy="802812"/>
          </a:xfrm>
          <a:prstGeom prst="rect">
            <a:avLst/>
          </a:prstGeom>
        </p:spPr>
        <p:txBody>
          <a:bodyPr anchor="t" rtlCol="false" tIns="0" lIns="0" bIns="0" rIns="0">
            <a:spAutoFit/>
          </a:bodyPr>
          <a:lstStyle/>
          <a:p>
            <a:pPr algn="ctr">
              <a:lnSpc>
                <a:spcPts val="4575"/>
              </a:lnSpc>
              <a:spcBef>
                <a:spcPct val="0"/>
              </a:spcBef>
            </a:pPr>
            <a:r>
              <a:rPr lang="en-US" b="true" sz="3268">
                <a:solidFill>
                  <a:srgbClr val="202020"/>
                </a:solidFill>
                <a:latin typeface="Cakerolli Bold"/>
                <a:ea typeface="Cakerolli Bold"/>
                <a:cs typeface="Cakerolli Bold"/>
                <a:sym typeface="Cakerolli Bold"/>
              </a:rPr>
              <a:t>2.2.2. Các bảng quan hệ</a:t>
            </a:r>
            <a:r>
              <a:rPr lang="en-US" b="true" sz="3268">
                <a:solidFill>
                  <a:srgbClr val="202020"/>
                </a:solidFill>
                <a:latin typeface="Cakerolli Bold"/>
                <a:ea typeface="Cakerolli Bold"/>
                <a:cs typeface="Cakerolli Bold"/>
                <a:sym typeface="Cakerolli Bold"/>
              </a:rPr>
              <a:t>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1262541" y="2313044"/>
            <a:ext cx="8351049" cy="3154890"/>
          </a:xfrm>
          <a:custGeom>
            <a:avLst/>
            <a:gdLst/>
            <a:ahLst/>
            <a:cxnLst/>
            <a:rect r="r" b="b" t="t" l="l"/>
            <a:pathLst>
              <a:path h="3154890" w="8351049">
                <a:moveTo>
                  <a:pt x="0" y="0"/>
                </a:moveTo>
                <a:lnTo>
                  <a:pt x="8351049" y="0"/>
                </a:lnTo>
                <a:lnTo>
                  <a:pt x="8351049" y="3154890"/>
                </a:lnTo>
                <a:lnTo>
                  <a:pt x="0" y="3154890"/>
                </a:lnTo>
                <a:lnTo>
                  <a:pt x="0" y="0"/>
                </a:lnTo>
                <a:close/>
              </a:path>
            </a:pathLst>
          </a:custGeom>
          <a:blipFill>
            <a:blip r:embed="rId14"/>
            <a:stretch>
              <a:fillRect l="0" t="-774" r="0" b="-774"/>
            </a:stretch>
          </a:blipFill>
        </p:spPr>
      </p:sp>
      <p:sp>
        <p:nvSpPr>
          <p:cNvPr name="Freeform 35" id="35"/>
          <p:cNvSpPr/>
          <p:nvPr/>
        </p:nvSpPr>
        <p:spPr>
          <a:xfrm flipH="false" flipV="false" rot="0">
            <a:off x="5680223" y="5871350"/>
            <a:ext cx="8470501" cy="3831544"/>
          </a:xfrm>
          <a:custGeom>
            <a:avLst/>
            <a:gdLst/>
            <a:ahLst/>
            <a:cxnLst/>
            <a:rect r="r" b="b" t="t" l="l"/>
            <a:pathLst>
              <a:path h="3831544" w="8470501">
                <a:moveTo>
                  <a:pt x="0" y="0"/>
                </a:moveTo>
                <a:lnTo>
                  <a:pt x="8470501" y="0"/>
                </a:lnTo>
                <a:lnTo>
                  <a:pt x="8470501" y="3831544"/>
                </a:lnTo>
                <a:lnTo>
                  <a:pt x="0" y="3831544"/>
                </a:lnTo>
                <a:lnTo>
                  <a:pt x="0" y="0"/>
                </a:lnTo>
                <a:close/>
              </a:path>
            </a:pathLst>
          </a:custGeom>
          <a:blipFill>
            <a:blip r:embed="rId15"/>
            <a:stretch>
              <a:fillRect l="0" t="0" r="0" b="0"/>
            </a:stretch>
          </a:blipFill>
        </p:spPr>
      </p:sp>
      <p:sp>
        <p:nvSpPr>
          <p:cNvPr name="TextBox 36" id="36"/>
          <p:cNvSpPr txBox="true"/>
          <p:nvPr/>
        </p:nvSpPr>
        <p:spPr>
          <a:xfrm rot="0">
            <a:off x="5994181" y="-321080"/>
            <a:ext cx="10972567" cy="1374635"/>
          </a:xfrm>
          <a:prstGeom prst="rect">
            <a:avLst/>
          </a:prstGeom>
        </p:spPr>
        <p:txBody>
          <a:bodyPr anchor="t" rtlCol="false" tIns="0" lIns="0" bIns="0" rIns="0">
            <a:spAutoFit/>
          </a:bodyPr>
          <a:lstStyle/>
          <a:p>
            <a:pPr algn="ctr">
              <a:lnSpc>
                <a:spcPts val="7883"/>
              </a:lnSpc>
              <a:spcBef>
                <a:spcPct val="0"/>
              </a:spcBef>
            </a:pPr>
            <a:r>
              <a:rPr lang="en-US" b="true" sz="5630">
                <a:solidFill>
                  <a:srgbClr val="000000"/>
                </a:solidFill>
                <a:latin typeface="Cakerolli Bold"/>
                <a:ea typeface="Cakerolli Bold"/>
                <a:cs typeface="Cakerolli Bold"/>
                <a:sym typeface="Cakerolli Bold"/>
              </a:rPr>
              <a:t>2.2 Phân tích hệ thống về dữ liệu</a:t>
            </a:r>
          </a:p>
        </p:txBody>
      </p:sp>
      <p:sp>
        <p:nvSpPr>
          <p:cNvPr name="TextBox 37" id="37"/>
          <p:cNvSpPr txBox="true"/>
          <p:nvPr/>
        </p:nvSpPr>
        <p:spPr>
          <a:xfrm rot="0">
            <a:off x="2738113" y="1129233"/>
            <a:ext cx="6875477" cy="802812"/>
          </a:xfrm>
          <a:prstGeom prst="rect">
            <a:avLst/>
          </a:prstGeom>
        </p:spPr>
        <p:txBody>
          <a:bodyPr anchor="t" rtlCol="false" tIns="0" lIns="0" bIns="0" rIns="0">
            <a:spAutoFit/>
          </a:bodyPr>
          <a:lstStyle/>
          <a:p>
            <a:pPr algn="ctr">
              <a:lnSpc>
                <a:spcPts val="4575"/>
              </a:lnSpc>
              <a:spcBef>
                <a:spcPct val="0"/>
              </a:spcBef>
            </a:pPr>
            <a:r>
              <a:rPr lang="en-US" b="true" sz="3268">
                <a:solidFill>
                  <a:srgbClr val="202020"/>
                </a:solidFill>
                <a:latin typeface="Cakerolli Bold"/>
                <a:ea typeface="Cakerolli Bold"/>
                <a:cs typeface="Cakerolli Bold"/>
                <a:sym typeface="Cakerolli Bold"/>
              </a:rPr>
              <a:t>2.2.2. Các bảng quan hệ</a:t>
            </a:r>
            <a:r>
              <a:rPr lang="en-US" b="true" sz="3268">
                <a:solidFill>
                  <a:srgbClr val="202020"/>
                </a:solidFill>
                <a:latin typeface="Cakerolli Bold"/>
                <a:ea typeface="Cakerolli Bold"/>
                <a:cs typeface="Cakerolli Bold"/>
                <a:sym typeface="Cakerolli Bold"/>
              </a:rPr>
              <a:t>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9085032" y="1610686"/>
            <a:ext cx="8397816" cy="4206287"/>
          </a:xfrm>
          <a:custGeom>
            <a:avLst/>
            <a:gdLst/>
            <a:ahLst/>
            <a:cxnLst/>
            <a:rect r="r" b="b" t="t" l="l"/>
            <a:pathLst>
              <a:path h="4206287" w="8397816">
                <a:moveTo>
                  <a:pt x="0" y="0"/>
                </a:moveTo>
                <a:lnTo>
                  <a:pt x="8397815" y="0"/>
                </a:lnTo>
                <a:lnTo>
                  <a:pt x="8397815" y="4206287"/>
                </a:lnTo>
                <a:lnTo>
                  <a:pt x="0" y="4206287"/>
                </a:lnTo>
                <a:lnTo>
                  <a:pt x="0" y="0"/>
                </a:lnTo>
                <a:close/>
              </a:path>
            </a:pathLst>
          </a:custGeom>
          <a:blipFill>
            <a:blip r:embed="rId14"/>
            <a:stretch>
              <a:fillRect l="0" t="0" r="0" b="0"/>
            </a:stretch>
          </a:blipFill>
        </p:spPr>
      </p:sp>
      <p:sp>
        <p:nvSpPr>
          <p:cNvPr name="Freeform 35" id="35"/>
          <p:cNvSpPr/>
          <p:nvPr/>
        </p:nvSpPr>
        <p:spPr>
          <a:xfrm flipH="false" flipV="false" rot="0">
            <a:off x="2239749" y="6190994"/>
            <a:ext cx="10542837" cy="3556620"/>
          </a:xfrm>
          <a:custGeom>
            <a:avLst/>
            <a:gdLst/>
            <a:ahLst/>
            <a:cxnLst/>
            <a:rect r="r" b="b" t="t" l="l"/>
            <a:pathLst>
              <a:path h="3556620" w="10542837">
                <a:moveTo>
                  <a:pt x="0" y="0"/>
                </a:moveTo>
                <a:lnTo>
                  <a:pt x="10542837" y="0"/>
                </a:lnTo>
                <a:lnTo>
                  <a:pt x="10542837" y="3556620"/>
                </a:lnTo>
                <a:lnTo>
                  <a:pt x="0" y="3556620"/>
                </a:lnTo>
                <a:lnTo>
                  <a:pt x="0" y="0"/>
                </a:lnTo>
                <a:close/>
              </a:path>
            </a:pathLst>
          </a:custGeom>
          <a:blipFill>
            <a:blip r:embed="rId15"/>
            <a:stretch>
              <a:fillRect l="0" t="0" r="0" b="0"/>
            </a:stretch>
          </a:blipFill>
        </p:spPr>
      </p:sp>
      <p:sp>
        <p:nvSpPr>
          <p:cNvPr name="TextBox 36" id="36"/>
          <p:cNvSpPr txBox="true"/>
          <p:nvPr/>
        </p:nvSpPr>
        <p:spPr>
          <a:xfrm rot="0">
            <a:off x="5994181" y="-321080"/>
            <a:ext cx="10972567" cy="1374635"/>
          </a:xfrm>
          <a:prstGeom prst="rect">
            <a:avLst/>
          </a:prstGeom>
        </p:spPr>
        <p:txBody>
          <a:bodyPr anchor="t" rtlCol="false" tIns="0" lIns="0" bIns="0" rIns="0">
            <a:spAutoFit/>
          </a:bodyPr>
          <a:lstStyle/>
          <a:p>
            <a:pPr algn="ctr">
              <a:lnSpc>
                <a:spcPts val="7883"/>
              </a:lnSpc>
              <a:spcBef>
                <a:spcPct val="0"/>
              </a:spcBef>
            </a:pPr>
            <a:r>
              <a:rPr lang="en-US" b="true" sz="5630">
                <a:solidFill>
                  <a:srgbClr val="000000"/>
                </a:solidFill>
                <a:latin typeface="Cakerolli Bold"/>
                <a:ea typeface="Cakerolli Bold"/>
                <a:cs typeface="Cakerolli Bold"/>
                <a:sym typeface="Cakerolli Bold"/>
              </a:rPr>
              <a:t>2.2 Phân tích hệ thống về dữ liệu</a:t>
            </a:r>
          </a:p>
        </p:txBody>
      </p:sp>
      <p:sp>
        <p:nvSpPr>
          <p:cNvPr name="TextBox 37" id="37"/>
          <p:cNvSpPr txBox="true"/>
          <p:nvPr/>
        </p:nvSpPr>
        <p:spPr>
          <a:xfrm rot="0">
            <a:off x="2738113" y="1129233"/>
            <a:ext cx="6875477" cy="802812"/>
          </a:xfrm>
          <a:prstGeom prst="rect">
            <a:avLst/>
          </a:prstGeom>
        </p:spPr>
        <p:txBody>
          <a:bodyPr anchor="t" rtlCol="false" tIns="0" lIns="0" bIns="0" rIns="0">
            <a:spAutoFit/>
          </a:bodyPr>
          <a:lstStyle/>
          <a:p>
            <a:pPr algn="ctr">
              <a:lnSpc>
                <a:spcPts val="4575"/>
              </a:lnSpc>
              <a:spcBef>
                <a:spcPct val="0"/>
              </a:spcBef>
            </a:pPr>
            <a:r>
              <a:rPr lang="en-US" b="true" sz="3268">
                <a:solidFill>
                  <a:srgbClr val="202020"/>
                </a:solidFill>
                <a:latin typeface="Cakerolli Bold"/>
                <a:ea typeface="Cakerolli Bold"/>
                <a:cs typeface="Cakerolli Bold"/>
                <a:sym typeface="Cakerolli Bold"/>
              </a:rPr>
              <a:t>2.2.2. Các bảng quan hệ</a:t>
            </a:r>
            <a:r>
              <a:rPr lang="en-US" b="true" sz="3268">
                <a:solidFill>
                  <a:srgbClr val="202020"/>
                </a:solidFill>
                <a:latin typeface="Cakerolli Bold"/>
                <a:ea typeface="Cakerolli Bold"/>
                <a:cs typeface="Cakerolli Bold"/>
                <a:sym typeface="Cakerolli Bold"/>
              </a:rPr>
              <a:t>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4284586" y="2865826"/>
            <a:ext cx="11251377" cy="5392778"/>
          </a:xfrm>
          <a:custGeom>
            <a:avLst/>
            <a:gdLst/>
            <a:ahLst/>
            <a:cxnLst/>
            <a:rect r="r" b="b" t="t" l="l"/>
            <a:pathLst>
              <a:path h="5392778" w="11251377">
                <a:moveTo>
                  <a:pt x="0" y="0"/>
                </a:moveTo>
                <a:lnTo>
                  <a:pt x="11251377" y="0"/>
                </a:lnTo>
                <a:lnTo>
                  <a:pt x="11251377" y="5392778"/>
                </a:lnTo>
                <a:lnTo>
                  <a:pt x="0" y="5392778"/>
                </a:lnTo>
                <a:lnTo>
                  <a:pt x="0" y="0"/>
                </a:lnTo>
                <a:close/>
              </a:path>
            </a:pathLst>
          </a:custGeom>
          <a:blipFill>
            <a:blip r:embed="rId14"/>
            <a:stretch>
              <a:fillRect l="0" t="0" r="0" b="0"/>
            </a:stretch>
          </a:blipFill>
        </p:spPr>
      </p:sp>
      <p:sp>
        <p:nvSpPr>
          <p:cNvPr name="TextBox 35" id="35"/>
          <p:cNvSpPr txBox="true"/>
          <p:nvPr/>
        </p:nvSpPr>
        <p:spPr>
          <a:xfrm rot="0">
            <a:off x="5994181" y="-321080"/>
            <a:ext cx="10972567" cy="1374635"/>
          </a:xfrm>
          <a:prstGeom prst="rect">
            <a:avLst/>
          </a:prstGeom>
        </p:spPr>
        <p:txBody>
          <a:bodyPr anchor="t" rtlCol="false" tIns="0" lIns="0" bIns="0" rIns="0">
            <a:spAutoFit/>
          </a:bodyPr>
          <a:lstStyle/>
          <a:p>
            <a:pPr algn="ctr">
              <a:lnSpc>
                <a:spcPts val="7883"/>
              </a:lnSpc>
              <a:spcBef>
                <a:spcPct val="0"/>
              </a:spcBef>
            </a:pPr>
            <a:r>
              <a:rPr lang="en-US" b="true" sz="5630">
                <a:solidFill>
                  <a:srgbClr val="000000"/>
                </a:solidFill>
                <a:latin typeface="Cakerolli Bold"/>
                <a:ea typeface="Cakerolli Bold"/>
                <a:cs typeface="Cakerolli Bold"/>
                <a:sym typeface="Cakerolli Bold"/>
              </a:rPr>
              <a:t>2.2 Phân tích hệ thống về dữ liệu</a:t>
            </a:r>
          </a:p>
        </p:txBody>
      </p:sp>
      <p:sp>
        <p:nvSpPr>
          <p:cNvPr name="TextBox 36" id="36"/>
          <p:cNvSpPr txBox="true"/>
          <p:nvPr/>
        </p:nvSpPr>
        <p:spPr>
          <a:xfrm rot="0">
            <a:off x="2738113" y="1129233"/>
            <a:ext cx="6875477" cy="802812"/>
          </a:xfrm>
          <a:prstGeom prst="rect">
            <a:avLst/>
          </a:prstGeom>
        </p:spPr>
        <p:txBody>
          <a:bodyPr anchor="t" rtlCol="false" tIns="0" lIns="0" bIns="0" rIns="0">
            <a:spAutoFit/>
          </a:bodyPr>
          <a:lstStyle/>
          <a:p>
            <a:pPr algn="ctr">
              <a:lnSpc>
                <a:spcPts val="4575"/>
              </a:lnSpc>
              <a:spcBef>
                <a:spcPct val="0"/>
              </a:spcBef>
            </a:pPr>
            <a:r>
              <a:rPr lang="en-US" b="true" sz="3268">
                <a:solidFill>
                  <a:srgbClr val="202020"/>
                </a:solidFill>
                <a:latin typeface="Cakerolli Bold"/>
                <a:ea typeface="Cakerolli Bold"/>
                <a:cs typeface="Cakerolli Bold"/>
                <a:sym typeface="Cakerolli Bold"/>
              </a:rPr>
              <a:t>2.2.2. Các bảng quan hệ</a:t>
            </a:r>
            <a:r>
              <a:rPr lang="en-US" b="true" sz="3268">
                <a:solidFill>
                  <a:srgbClr val="202020"/>
                </a:solidFill>
                <a:latin typeface="Cakerolli Bold"/>
                <a:ea typeface="Cakerolli Bold"/>
                <a:cs typeface="Cakerolli Bold"/>
                <a:sym typeface="Cakerolli Bold"/>
              </a:rPr>
              <a:t>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023814" y="4613865"/>
            <a:ext cx="4995486" cy="2741273"/>
          </a:xfrm>
          <a:custGeom>
            <a:avLst/>
            <a:gdLst/>
            <a:ahLst/>
            <a:cxnLst/>
            <a:rect r="r" b="b" t="t" l="l"/>
            <a:pathLst>
              <a:path h="2741273" w="4995486">
                <a:moveTo>
                  <a:pt x="0" y="0"/>
                </a:moveTo>
                <a:lnTo>
                  <a:pt x="4995486" y="0"/>
                </a:lnTo>
                <a:lnTo>
                  <a:pt x="4995486" y="2741272"/>
                </a:lnTo>
                <a:lnTo>
                  <a:pt x="0" y="2741272"/>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2449340" y="3219865"/>
            <a:ext cx="11701384" cy="6217386"/>
          </a:xfrm>
          <a:custGeom>
            <a:avLst/>
            <a:gdLst/>
            <a:ahLst/>
            <a:cxnLst/>
            <a:rect r="r" b="b" t="t" l="l"/>
            <a:pathLst>
              <a:path h="6217386" w="11701384">
                <a:moveTo>
                  <a:pt x="0" y="0"/>
                </a:moveTo>
                <a:lnTo>
                  <a:pt x="11701384" y="0"/>
                </a:lnTo>
                <a:lnTo>
                  <a:pt x="11701384" y="6217386"/>
                </a:lnTo>
                <a:lnTo>
                  <a:pt x="0" y="6217386"/>
                </a:lnTo>
                <a:lnTo>
                  <a:pt x="0" y="0"/>
                </a:lnTo>
                <a:close/>
              </a:path>
            </a:pathLst>
          </a:custGeom>
          <a:blipFill>
            <a:blip r:embed="rId14"/>
            <a:stretch>
              <a:fillRect l="0" t="0" r="0" b="0"/>
            </a:stretch>
          </a:blipFill>
        </p:spPr>
      </p:sp>
      <p:sp>
        <p:nvSpPr>
          <p:cNvPr name="TextBox 35" id="35"/>
          <p:cNvSpPr txBox="true"/>
          <p:nvPr/>
        </p:nvSpPr>
        <p:spPr>
          <a:xfrm rot="0">
            <a:off x="5994181" y="-321080"/>
            <a:ext cx="10972567" cy="1374635"/>
          </a:xfrm>
          <a:prstGeom prst="rect">
            <a:avLst/>
          </a:prstGeom>
        </p:spPr>
        <p:txBody>
          <a:bodyPr anchor="t" rtlCol="false" tIns="0" lIns="0" bIns="0" rIns="0">
            <a:spAutoFit/>
          </a:bodyPr>
          <a:lstStyle/>
          <a:p>
            <a:pPr algn="ctr">
              <a:lnSpc>
                <a:spcPts val="7883"/>
              </a:lnSpc>
              <a:spcBef>
                <a:spcPct val="0"/>
              </a:spcBef>
            </a:pPr>
            <a:r>
              <a:rPr lang="en-US" b="true" sz="5630">
                <a:solidFill>
                  <a:srgbClr val="000000"/>
                </a:solidFill>
                <a:latin typeface="Cakerolli Bold"/>
                <a:ea typeface="Cakerolli Bold"/>
                <a:cs typeface="Cakerolli Bold"/>
                <a:sym typeface="Cakerolli Bold"/>
              </a:rPr>
              <a:t>2.2 Phân tích hệ thống về dữ liệu</a:t>
            </a:r>
          </a:p>
        </p:txBody>
      </p:sp>
      <p:sp>
        <p:nvSpPr>
          <p:cNvPr name="TextBox 36" id="36"/>
          <p:cNvSpPr txBox="true"/>
          <p:nvPr/>
        </p:nvSpPr>
        <p:spPr>
          <a:xfrm rot="0">
            <a:off x="2738113" y="1129233"/>
            <a:ext cx="6875477" cy="802812"/>
          </a:xfrm>
          <a:prstGeom prst="rect">
            <a:avLst/>
          </a:prstGeom>
        </p:spPr>
        <p:txBody>
          <a:bodyPr anchor="t" rtlCol="false" tIns="0" lIns="0" bIns="0" rIns="0">
            <a:spAutoFit/>
          </a:bodyPr>
          <a:lstStyle/>
          <a:p>
            <a:pPr algn="ctr">
              <a:lnSpc>
                <a:spcPts val="4575"/>
              </a:lnSpc>
              <a:spcBef>
                <a:spcPct val="0"/>
              </a:spcBef>
            </a:pPr>
            <a:r>
              <a:rPr lang="en-US" b="true" sz="3268">
                <a:solidFill>
                  <a:srgbClr val="202020"/>
                </a:solidFill>
                <a:latin typeface="Cakerolli Bold"/>
                <a:ea typeface="Cakerolli Bold"/>
                <a:cs typeface="Cakerolli Bold"/>
                <a:sym typeface="Cakerolli Bold"/>
              </a:rPr>
              <a:t>2.2.2. Các bảng quan hệ</a:t>
            </a:r>
            <a:r>
              <a:rPr lang="en-US" b="true" sz="3268">
                <a:solidFill>
                  <a:srgbClr val="202020"/>
                </a:solidFill>
                <a:latin typeface="Cakerolli Bold"/>
                <a:ea typeface="Cakerolli Bold"/>
                <a:cs typeface="Cakerolli Bold"/>
                <a:sym typeface="Cakerolli Bold"/>
              </a:rPr>
              <a:t> </a:t>
            </a:r>
          </a:p>
        </p:txBody>
      </p:sp>
      <p:sp>
        <p:nvSpPr>
          <p:cNvPr name="TextBox 37" id="37"/>
          <p:cNvSpPr txBox="true"/>
          <p:nvPr/>
        </p:nvSpPr>
        <p:spPr>
          <a:xfrm rot="0">
            <a:off x="2738113" y="2083459"/>
            <a:ext cx="3903197" cy="802812"/>
          </a:xfrm>
          <a:prstGeom prst="rect">
            <a:avLst/>
          </a:prstGeom>
        </p:spPr>
        <p:txBody>
          <a:bodyPr anchor="t" rtlCol="false" tIns="0" lIns="0" bIns="0" rIns="0">
            <a:spAutoFit/>
          </a:bodyPr>
          <a:lstStyle/>
          <a:p>
            <a:pPr algn="ctr">
              <a:lnSpc>
                <a:spcPts val="4575"/>
              </a:lnSpc>
              <a:spcBef>
                <a:spcPct val="0"/>
              </a:spcBef>
            </a:pPr>
            <a:r>
              <a:rPr lang="en-US" b="true" sz="3268">
                <a:solidFill>
                  <a:srgbClr val="000000"/>
                </a:solidFill>
                <a:latin typeface="Cakerolli Bold"/>
                <a:ea typeface="Cakerolli Bold"/>
                <a:cs typeface="Cakerolli Bold"/>
                <a:sym typeface="Cakerolli Bold"/>
              </a:rPr>
              <a:t>*Mô hình quan hệ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2441897" y="5082384"/>
            <a:ext cx="3905389" cy="2492348"/>
          </a:xfrm>
          <a:custGeom>
            <a:avLst/>
            <a:gdLst/>
            <a:ahLst/>
            <a:cxnLst/>
            <a:rect r="r" b="b" t="t" l="l"/>
            <a:pathLst>
              <a:path h="2492348" w="3905389">
                <a:moveTo>
                  <a:pt x="0" y="0"/>
                </a:moveTo>
                <a:lnTo>
                  <a:pt x="3905388" y="0"/>
                </a:lnTo>
                <a:lnTo>
                  <a:pt x="3905388" y="2492348"/>
                </a:lnTo>
                <a:lnTo>
                  <a:pt x="0" y="24923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5" id="35"/>
          <p:cNvSpPr txBox="true"/>
          <p:nvPr/>
        </p:nvSpPr>
        <p:spPr>
          <a:xfrm rot="0">
            <a:off x="3635871" y="1475373"/>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013490" y="5642410"/>
            <a:ext cx="2762202" cy="1178892"/>
          </a:xfrm>
          <a:prstGeom prst="rect">
            <a:avLst/>
          </a:prstGeom>
        </p:spPr>
        <p:txBody>
          <a:bodyPr anchor="t" rtlCol="false" tIns="0" lIns="0" bIns="0" rIns="0">
            <a:spAutoFit/>
          </a:bodyPr>
          <a:lstStyle/>
          <a:p>
            <a:pPr algn="ctr" marL="0" indent="0" lvl="0">
              <a:lnSpc>
                <a:spcPts val="3787"/>
              </a:lnSpc>
            </a:pPr>
            <a:r>
              <a:rPr lang="en-US" b="true" sz="3079">
                <a:solidFill>
                  <a:srgbClr val="FFFFFF"/>
                </a:solidFill>
                <a:latin typeface="Cakerolli Bold"/>
                <a:ea typeface="Cakerolli Bold"/>
                <a:cs typeface="Cakerolli Bold"/>
                <a:sym typeface="Cakerolli Bold"/>
              </a:rPr>
              <a:t>3.1 Thiết kế giao diện</a:t>
            </a:r>
          </a:p>
        </p:txBody>
      </p:sp>
      <p:sp>
        <p:nvSpPr>
          <p:cNvPr name="Freeform 37" id="37"/>
          <p:cNvSpPr/>
          <p:nvPr/>
        </p:nvSpPr>
        <p:spPr>
          <a:xfrm flipH="false" flipV="false" rot="0">
            <a:off x="12094774" y="5234351"/>
            <a:ext cx="3667264" cy="2340381"/>
          </a:xfrm>
          <a:custGeom>
            <a:avLst/>
            <a:gdLst/>
            <a:ahLst/>
            <a:cxnLst/>
            <a:rect r="r" b="b" t="t" l="l"/>
            <a:pathLst>
              <a:path h="2340381" w="3667264">
                <a:moveTo>
                  <a:pt x="0" y="0"/>
                </a:moveTo>
                <a:lnTo>
                  <a:pt x="3667264" y="0"/>
                </a:lnTo>
                <a:lnTo>
                  <a:pt x="3667264" y="2340381"/>
                </a:lnTo>
                <a:lnTo>
                  <a:pt x="0" y="23403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8" id="38"/>
          <p:cNvSpPr txBox="true"/>
          <p:nvPr/>
        </p:nvSpPr>
        <p:spPr>
          <a:xfrm rot="0">
            <a:off x="12593568" y="5566210"/>
            <a:ext cx="2669676" cy="1398553"/>
          </a:xfrm>
          <a:prstGeom prst="rect">
            <a:avLst/>
          </a:prstGeom>
        </p:spPr>
        <p:txBody>
          <a:bodyPr anchor="t" rtlCol="false" tIns="0" lIns="0" bIns="0" rIns="0">
            <a:spAutoFit/>
          </a:bodyPr>
          <a:lstStyle/>
          <a:p>
            <a:pPr algn="ctr">
              <a:lnSpc>
                <a:spcPts val="4626"/>
              </a:lnSpc>
            </a:pPr>
            <a:r>
              <a:rPr lang="en-US" sz="3304" b="true">
                <a:solidFill>
                  <a:srgbClr val="FFFFFF"/>
                </a:solidFill>
                <a:latin typeface="Cakerolli Bold"/>
                <a:ea typeface="Cakerolli Bold"/>
                <a:cs typeface="Cakerolli Bold"/>
                <a:sym typeface="Cakerolli Bold"/>
              </a:rPr>
              <a:t>3.2 Cài đặt chương trình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7546034" y="1997200"/>
            <a:ext cx="3976998" cy="7779565"/>
          </a:xfrm>
          <a:custGeom>
            <a:avLst/>
            <a:gdLst/>
            <a:ahLst/>
            <a:cxnLst/>
            <a:rect r="r" b="b" t="t" l="l"/>
            <a:pathLst>
              <a:path h="7779565" w="3976998">
                <a:moveTo>
                  <a:pt x="0" y="0"/>
                </a:moveTo>
                <a:lnTo>
                  <a:pt x="3976997" y="0"/>
                </a:lnTo>
                <a:lnTo>
                  <a:pt x="3976997" y="7779565"/>
                </a:lnTo>
                <a:lnTo>
                  <a:pt x="0" y="7779565"/>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329113"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3.1 Thiết kế giao diện</a:t>
            </a:r>
          </a:p>
        </p:txBody>
      </p:sp>
      <p:sp>
        <p:nvSpPr>
          <p:cNvPr name="TextBox 37" id="37"/>
          <p:cNvSpPr txBox="true"/>
          <p:nvPr/>
        </p:nvSpPr>
        <p:spPr>
          <a:xfrm rot="0">
            <a:off x="-405188" y="2098712"/>
            <a:ext cx="6846106" cy="70264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*Splash_layout: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5523422" y="2992901"/>
            <a:ext cx="7241156" cy="6716034"/>
          </a:xfrm>
          <a:custGeom>
            <a:avLst/>
            <a:gdLst/>
            <a:ahLst/>
            <a:cxnLst/>
            <a:rect r="r" b="b" t="t" l="l"/>
            <a:pathLst>
              <a:path h="6716034" w="7241156">
                <a:moveTo>
                  <a:pt x="0" y="0"/>
                </a:moveTo>
                <a:lnTo>
                  <a:pt x="7241156" y="0"/>
                </a:lnTo>
                <a:lnTo>
                  <a:pt x="7241156" y="6716034"/>
                </a:lnTo>
                <a:lnTo>
                  <a:pt x="0" y="6716034"/>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329113"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3.1 Thiết kế giao diện</a:t>
            </a:r>
          </a:p>
        </p:txBody>
      </p:sp>
      <p:sp>
        <p:nvSpPr>
          <p:cNvPr name="TextBox 37" id="37"/>
          <p:cNvSpPr txBox="true"/>
          <p:nvPr/>
        </p:nvSpPr>
        <p:spPr>
          <a:xfrm rot="0">
            <a:off x="1262541" y="2098712"/>
            <a:ext cx="5937528" cy="70264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*welcome_layout &amp;&amp; login_layout: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7445303" y="2409826"/>
            <a:ext cx="5982756" cy="7068063"/>
          </a:xfrm>
          <a:custGeom>
            <a:avLst/>
            <a:gdLst/>
            <a:ahLst/>
            <a:cxnLst/>
            <a:rect r="r" b="b" t="t" l="l"/>
            <a:pathLst>
              <a:path h="7068063" w="5982756">
                <a:moveTo>
                  <a:pt x="0" y="0"/>
                </a:moveTo>
                <a:lnTo>
                  <a:pt x="5982756" y="0"/>
                </a:lnTo>
                <a:lnTo>
                  <a:pt x="5982756" y="7068063"/>
                </a:lnTo>
                <a:lnTo>
                  <a:pt x="0" y="7068063"/>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329113"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3.1 Thiết kế giao diện</a:t>
            </a:r>
          </a:p>
        </p:txBody>
      </p:sp>
      <p:sp>
        <p:nvSpPr>
          <p:cNvPr name="TextBox 37" id="37"/>
          <p:cNvSpPr txBox="true"/>
          <p:nvPr/>
        </p:nvSpPr>
        <p:spPr>
          <a:xfrm rot="0">
            <a:off x="1028700" y="2251581"/>
            <a:ext cx="4419838" cy="70264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 Tạo tài khoản &amp;&amp; Home: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4390447" y="3087104"/>
            <a:ext cx="6758094" cy="6840010"/>
          </a:xfrm>
          <a:custGeom>
            <a:avLst/>
            <a:gdLst/>
            <a:ahLst/>
            <a:cxnLst/>
            <a:rect r="r" b="b" t="t" l="l"/>
            <a:pathLst>
              <a:path h="6840010" w="6758094">
                <a:moveTo>
                  <a:pt x="0" y="0"/>
                </a:moveTo>
                <a:lnTo>
                  <a:pt x="6758093" y="0"/>
                </a:lnTo>
                <a:lnTo>
                  <a:pt x="6758093" y="6840010"/>
                </a:lnTo>
                <a:lnTo>
                  <a:pt x="0" y="6840010"/>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329113"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3.1 Thiết kế giao diện</a:t>
            </a:r>
          </a:p>
        </p:txBody>
      </p:sp>
      <p:sp>
        <p:nvSpPr>
          <p:cNvPr name="TextBox 37" id="37"/>
          <p:cNvSpPr txBox="true"/>
          <p:nvPr/>
        </p:nvSpPr>
        <p:spPr>
          <a:xfrm rot="0">
            <a:off x="1262541" y="2098712"/>
            <a:ext cx="5510570" cy="70264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*Trang chủ &amp;&amp; thêm Nhân Viên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4160240" y="3018550"/>
            <a:ext cx="6571598" cy="6758215"/>
          </a:xfrm>
          <a:custGeom>
            <a:avLst/>
            <a:gdLst/>
            <a:ahLst/>
            <a:cxnLst/>
            <a:rect r="r" b="b" t="t" l="l"/>
            <a:pathLst>
              <a:path h="6758215" w="6571598">
                <a:moveTo>
                  <a:pt x="0" y="0"/>
                </a:moveTo>
                <a:lnTo>
                  <a:pt x="6571598" y="0"/>
                </a:lnTo>
                <a:lnTo>
                  <a:pt x="6571598" y="6758215"/>
                </a:lnTo>
                <a:lnTo>
                  <a:pt x="0" y="6758215"/>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329113"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3.1 Thiết kế giao diện</a:t>
            </a:r>
          </a:p>
        </p:txBody>
      </p:sp>
      <p:sp>
        <p:nvSpPr>
          <p:cNvPr name="TextBox 37" id="37"/>
          <p:cNvSpPr txBox="true"/>
          <p:nvPr/>
        </p:nvSpPr>
        <p:spPr>
          <a:xfrm rot="0">
            <a:off x="1028700" y="2092846"/>
            <a:ext cx="7648440" cy="1178892"/>
          </a:xfrm>
          <a:prstGeom prst="rect">
            <a:avLst/>
          </a:prstGeom>
        </p:spPr>
        <p:txBody>
          <a:bodyPr anchor="t" rtlCol="false" tIns="0" lIns="0" bIns="0" rIns="0">
            <a:spAutoFit/>
          </a:bodyPr>
          <a:lstStyle/>
          <a:p>
            <a:pPr algn="ctr">
              <a:lnSpc>
                <a:spcPts val="3787"/>
              </a:lnSpc>
            </a:pPr>
            <a:r>
              <a:rPr lang="en-US" sz="3079" b="true">
                <a:solidFill>
                  <a:srgbClr val="000000"/>
                </a:solidFill>
                <a:latin typeface="Cakerolli Bold"/>
                <a:ea typeface="Cakerolli Bold"/>
                <a:cs typeface="Cakerolli Bold"/>
                <a:sym typeface="Cakerolli Bold"/>
              </a:rPr>
              <a:t>*Quản lý nhân viên &amp;&amp; tải hình món ăn:</a:t>
            </a:r>
          </a:p>
          <a:p>
            <a:pPr algn="ctr">
              <a:lnSpc>
                <a:spcPts val="3787"/>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8106376" y="2409826"/>
            <a:ext cx="3416655" cy="7558971"/>
          </a:xfrm>
          <a:custGeom>
            <a:avLst/>
            <a:gdLst/>
            <a:ahLst/>
            <a:cxnLst/>
            <a:rect r="r" b="b" t="t" l="l"/>
            <a:pathLst>
              <a:path h="7558971" w="3416655">
                <a:moveTo>
                  <a:pt x="0" y="0"/>
                </a:moveTo>
                <a:lnTo>
                  <a:pt x="3416655" y="0"/>
                </a:lnTo>
                <a:lnTo>
                  <a:pt x="3416655" y="7558970"/>
                </a:lnTo>
                <a:lnTo>
                  <a:pt x="0" y="7558970"/>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329113"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3.1 Thiết kế giao diện</a:t>
            </a:r>
          </a:p>
        </p:txBody>
      </p:sp>
      <p:sp>
        <p:nvSpPr>
          <p:cNvPr name="TextBox 37" id="37"/>
          <p:cNvSpPr txBox="true"/>
          <p:nvPr/>
        </p:nvSpPr>
        <p:spPr>
          <a:xfrm rot="0">
            <a:off x="-506058" y="2098712"/>
            <a:ext cx="7648440" cy="70264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 Thêm món ăn vào menu:</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7666802" y="2637265"/>
            <a:ext cx="6193930" cy="6848474"/>
          </a:xfrm>
          <a:custGeom>
            <a:avLst/>
            <a:gdLst/>
            <a:ahLst/>
            <a:cxnLst/>
            <a:rect r="r" b="b" t="t" l="l"/>
            <a:pathLst>
              <a:path h="6848474" w="6193930">
                <a:moveTo>
                  <a:pt x="0" y="0"/>
                </a:moveTo>
                <a:lnTo>
                  <a:pt x="6193929" y="0"/>
                </a:lnTo>
                <a:lnTo>
                  <a:pt x="6193929" y="6848474"/>
                </a:lnTo>
                <a:lnTo>
                  <a:pt x="0" y="6848474"/>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329113"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3.1 Thiết kế giao diện</a:t>
            </a:r>
          </a:p>
        </p:txBody>
      </p:sp>
      <p:sp>
        <p:nvSpPr>
          <p:cNvPr name="TextBox 37" id="37"/>
          <p:cNvSpPr txBox="true"/>
          <p:nvPr/>
        </p:nvSpPr>
        <p:spPr>
          <a:xfrm rot="0">
            <a:off x="-219763" y="2251581"/>
            <a:ext cx="7648440" cy="70264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*Quản lý bàn và thêm bàn:</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3604457" y="2807232"/>
            <a:ext cx="6170473" cy="7087371"/>
          </a:xfrm>
          <a:custGeom>
            <a:avLst/>
            <a:gdLst/>
            <a:ahLst/>
            <a:cxnLst/>
            <a:rect r="r" b="b" t="t" l="l"/>
            <a:pathLst>
              <a:path h="7087371" w="6170473">
                <a:moveTo>
                  <a:pt x="0" y="0"/>
                </a:moveTo>
                <a:lnTo>
                  <a:pt x="6170473" y="0"/>
                </a:lnTo>
                <a:lnTo>
                  <a:pt x="6170473" y="7087372"/>
                </a:lnTo>
                <a:lnTo>
                  <a:pt x="0" y="7087372"/>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329113"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3.1 Thiết kế giao diện</a:t>
            </a:r>
          </a:p>
        </p:txBody>
      </p:sp>
      <p:sp>
        <p:nvSpPr>
          <p:cNvPr name="TextBox 37" id="37"/>
          <p:cNvSpPr txBox="true"/>
          <p:nvPr/>
        </p:nvSpPr>
        <p:spPr>
          <a:xfrm rot="0">
            <a:off x="666604" y="2098712"/>
            <a:ext cx="9363763" cy="70264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*Thanh Toán Hoá Đơn &amp;&amp; thống kê các hoá đơn: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8871332" y="3345936"/>
            <a:ext cx="3451799" cy="6356958"/>
          </a:xfrm>
          <a:custGeom>
            <a:avLst/>
            <a:gdLst/>
            <a:ahLst/>
            <a:cxnLst/>
            <a:rect r="r" b="b" t="t" l="l"/>
            <a:pathLst>
              <a:path h="6356958" w="3451799">
                <a:moveTo>
                  <a:pt x="0" y="0"/>
                </a:moveTo>
                <a:lnTo>
                  <a:pt x="3451799" y="0"/>
                </a:lnTo>
                <a:lnTo>
                  <a:pt x="3451799" y="6356958"/>
                </a:lnTo>
                <a:lnTo>
                  <a:pt x="0" y="6356958"/>
                </a:lnTo>
                <a:lnTo>
                  <a:pt x="0" y="0"/>
                </a:lnTo>
                <a:close/>
              </a:path>
            </a:pathLst>
          </a:custGeom>
          <a:blipFill>
            <a:blip r:embed="rId14"/>
            <a:stretch>
              <a:fillRect l="0" t="-9506" r="0" b="-9506"/>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914529"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3.2 Cài đặt chương trình</a:t>
            </a:r>
          </a:p>
        </p:txBody>
      </p:sp>
      <p:sp>
        <p:nvSpPr>
          <p:cNvPr name="TextBox 37" id="37"/>
          <p:cNvSpPr txBox="true"/>
          <p:nvPr/>
        </p:nvSpPr>
        <p:spPr>
          <a:xfrm rot="0">
            <a:off x="1620882" y="1928757"/>
            <a:ext cx="12529842" cy="1178892"/>
          </a:xfrm>
          <a:prstGeom prst="rect">
            <a:avLst/>
          </a:prstGeom>
        </p:spPr>
        <p:txBody>
          <a:bodyPr anchor="t" rtlCol="false" tIns="0" lIns="0" bIns="0" rIns="0">
            <a:spAutoFit/>
          </a:bodyPr>
          <a:lstStyle/>
          <a:p>
            <a:pPr algn="ctr">
              <a:lnSpc>
                <a:spcPts val="3787"/>
              </a:lnSpc>
            </a:pPr>
            <a:r>
              <a:rPr lang="en-US" sz="3079" b="true">
                <a:solidFill>
                  <a:srgbClr val="000000"/>
                </a:solidFill>
                <a:latin typeface="Cakerolli Bold"/>
                <a:ea typeface="Cakerolli Bold"/>
                <a:cs typeface="Cakerolli Bold"/>
                <a:sym typeface="Cakerolli Bold"/>
              </a:rPr>
              <a:t> - Sử dụng ngôn ngữ lập trình Android để xây dựng chương trình.</a:t>
            </a:r>
          </a:p>
          <a:p>
            <a:pPr algn="ctr">
              <a:lnSpc>
                <a:spcPts val="3787"/>
              </a:lnSpc>
              <a:spcBef>
                <a:spcPct val="0"/>
              </a:spcBef>
            </a:pPr>
          </a:p>
        </p:txBody>
      </p:sp>
      <p:sp>
        <p:nvSpPr>
          <p:cNvPr name="TextBox 38" id="38"/>
          <p:cNvSpPr txBox="true"/>
          <p:nvPr/>
        </p:nvSpPr>
        <p:spPr>
          <a:xfrm rot="0">
            <a:off x="358401" y="5081498"/>
            <a:ext cx="6783981" cy="1729854"/>
          </a:xfrm>
          <a:prstGeom prst="rect">
            <a:avLst/>
          </a:prstGeom>
        </p:spPr>
        <p:txBody>
          <a:bodyPr anchor="t" rtlCol="false" tIns="0" lIns="0" bIns="0" rIns="0">
            <a:spAutoFit/>
          </a:bodyPr>
          <a:lstStyle/>
          <a:p>
            <a:pPr algn="ctr">
              <a:lnSpc>
                <a:spcPts val="3911"/>
              </a:lnSpc>
            </a:pPr>
            <a:r>
              <a:rPr lang="en-US" sz="3179" b="true">
                <a:solidFill>
                  <a:srgbClr val="000000"/>
                </a:solidFill>
                <a:latin typeface="Cakerolli Bold"/>
                <a:ea typeface="Cakerolli Bold"/>
                <a:cs typeface="Cakerolli Bold"/>
                <a:sym typeface="Cakerolli Bold"/>
              </a:rPr>
              <a:t>- login_layout hiện lên và hiển thị tên của nhân viên đang đăng nhập.</a:t>
            </a:r>
          </a:p>
          <a:p>
            <a:pPr algn="ctr">
              <a:lnSpc>
                <a:spcPts val="3911"/>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5745872" y="4096108"/>
            <a:ext cx="5402668" cy="5680658"/>
          </a:xfrm>
          <a:custGeom>
            <a:avLst/>
            <a:gdLst/>
            <a:ahLst/>
            <a:cxnLst/>
            <a:rect r="r" b="b" t="t" l="l"/>
            <a:pathLst>
              <a:path h="5680658" w="5402668">
                <a:moveTo>
                  <a:pt x="0" y="0"/>
                </a:moveTo>
                <a:lnTo>
                  <a:pt x="5402668" y="0"/>
                </a:lnTo>
                <a:lnTo>
                  <a:pt x="5402668" y="5680657"/>
                </a:lnTo>
                <a:lnTo>
                  <a:pt x="0" y="5680657"/>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914529"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3.2 Cài đặt chương trình</a:t>
            </a:r>
          </a:p>
        </p:txBody>
      </p:sp>
      <p:sp>
        <p:nvSpPr>
          <p:cNvPr name="TextBox 37" id="37"/>
          <p:cNvSpPr txBox="true"/>
          <p:nvPr/>
        </p:nvSpPr>
        <p:spPr>
          <a:xfrm rot="0">
            <a:off x="1738395" y="2337070"/>
            <a:ext cx="15653774" cy="1655142"/>
          </a:xfrm>
          <a:prstGeom prst="rect">
            <a:avLst/>
          </a:prstGeom>
        </p:spPr>
        <p:txBody>
          <a:bodyPr anchor="t" rtlCol="false" tIns="0" lIns="0" bIns="0" rIns="0">
            <a:spAutoFit/>
          </a:bodyPr>
          <a:lstStyle/>
          <a:p>
            <a:pPr algn="ctr">
              <a:lnSpc>
                <a:spcPts val="3787"/>
              </a:lnSpc>
            </a:pPr>
            <a:r>
              <a:rPr lang="en-US" sz="3079" b="true">
                <a:solidFill>
                  <a:srgbClr val="000000"/>
                </a:solidFill>
                <a:latin typeface="Cakerolli Bold"/>
                <a:ea typeface="Cakerolli Bold"/>
                <a:cs typeface="Cakerolli Bold"/>
                <a:sym typeface="Cakerolli Bold"/>
              </a:rPr>
              <a:t>Click vào Thực đơn ở Home, thêm món ăn hiện lên. Nhập dữ liệu vào trường Thông tin món ăn. Sau đó, click vào dấu cộng để thêm Thêm.</a:t>
            </a:r>
          </a:p>
          <a:p>
            <a:pPr algn="ctr">
              <a:lnSpc>
                <a:spcPts val="3787"/>
              </a:lnSpc>
              <a:spcBef>
                <a:spcPct val="0"/>
              </a:spcBef>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5617748" y="3840301"/>
            <a:ext cx="5802475" cy="5694800"/>
          </a:xfrm>
          <a:custGeom>
            <a:avLst/>
            <a:gdLst/>
            <a:ahLst/>
            <a:cxnLst/>
            <a:rect r="r" b="b" t="t" l="l"/>
            <a:pathLst>
              <a:path h="5694800" w="5802475">
                <a:moveTo>
                  <a:pt x="0" y="0"/>
                </a:moveTo>
                <a:lnTo>
                  <a:pt x="5802475" y="0"/>
                </a:lnTo>
                <a:lnTo>
                  <a:pt x="5802475" y="5694800"/>
                </a:lnTo>
                <a:lnTo>
                  <a:pt x="0" y="5694800"/>
                </a:lnTo>
                <a:lnTo>
                  <a:pt x="0" y="0"/>
                </a:lnTo>
                <a:close/>
              </a:path>
            </a:pathLst>
          </a:custGeom>
          <a:blipFill>
            <a:blip r:embed="rId14"/>
            <a:stretch>
              <a:fillRect l="0" t="0" r="0" b="0"/>
            </a:stretch>
          </a:blipFill>
        </p:spPr>
      </p:sp>
      <p:sp>
        <p:nvSpPr>
          <p:cNvPr name="TextBox 35" id="35"/>
          <p:cNvSpPr txBox="true"/>
          <p:nvPr/>
        </p:nvSpPr>
        <p:spPr>
          <a:xfrm rot="0">
            <a:off x="5898774" y="-211715"/>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3: Xây dựng chương trình  </a:t>
            </a:r>
          </a:p>
        </p:txBody>
      </p:sp>
      <p:sp>
        <p:nvSpPr>
          <p:cNvPr name="TextBox 36" id="36"/>
          <p:cNvSpPr txBox="true"/>
          <p:nvPr/>
        </p:nvSpPr>
        <p:spPr>
          <a:xfrm rot="0">
            <a:off x="3604457" y="1229403"/>
            <a:ext cx="4914529" cy="702642"/>
          </a:xfrm>
          <a:prstGeom prst="rect">
            <a:avLst/>
          </a:prstGeom>
        </p:spPr>
        <p:txBody>
          <a:bodyPr anchor="t" rtlCol="false" tIns="0" lIns="0" bIns="0" rIns="0">
            <a:spAutoFit/>
          </a:bodyPr>
          <a:lstStyle/>
          <a:p>
            <a:pPr algn="ctr" marL="0" indent="0" lvl="0">
              <a:lnSpc>
                <a:spcPts val="3787"/>
              </a:lnSpc>
            </a:pPr>
            <a:r>
              <a:rPr lang="en-US" b="true" sz="3079">
                <a:solidFill>
                  <a:srgbClr val="2D2A29"/>
                </a:solidFill>
                <a:latin typeface="Cakerolli Bold"/>
                <a:ea typeface="Cakerolli Bold"/>
                <a:cs typeface="Cakerolli Bold"/>
                <a:sym typeface="Cakerolli Bold"/>
              </a:rPr>
              <a:t>3.2 Cài đặt chương trình</a:t>
            </a:r>
          </a:p>
        </p:txBody>
      </p:sp>
      <p:sp>
        <p:nvSpPr>
          <p:cNvPr name="TextBox 37" id="37"/>
          <p:cNvSpPr txBox="true"/>
          <p:nvPr/>
        </p:nvSpPr>
        <p:spPr>
          <a:xfrm rot="0">
            <a:off x="1738395" y="2337070"/>
            <a:ext cx="15653774" cy="70264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 click vào bàn cần thanh toán để chuyển sang phần thanh toán hoá đơn</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2809595" y="4298601"/>
            <a:ext cx="2074416" cy="211213"/>
          </a:xfrm>
          <a:custGeom>
            <a:avLst/>
            <a:gdLst/>
            <a:ahLst/>
            <a:cxnLst/>
            <a:rect r="r" b="b" t="t" l="l"/>
            <a:pathLst>
              <a:path h="211213" w="2074416">
                <a:moveTo>
                  <a:pt x="0" y="0"/>
                </a:moveTo>
                <a:lnTo>
                  <a:pt x="2074416" y="0"/>
                </a:lnTo>
                <a:lnTo>
                  <a:pt x="2074416" y="211214"/>
                </a:lnTo>
                <a:lnTo>
                  <a:pt x="0" y="21121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5" id="35"/>
          <p:cNvSpPr/>
          <p:nvPr/>
        </p:nvSpPr>
        <p:spPr>
          <a:xfrm flipH="false" flipV="false" rot="5400000">
            <a:off x="2559540" y="1357841"/>
            <a:ext cx="2229262" cy="3377670"/>
          </a:xfrm>
          <a:custGeom>
            <a:avLst/>
            <a:gdLst/>
            <a:ahLst/>
            <a:cxnLst/>
            <a:rect r="r" b="b" t="t" l="l"/>
            <a:pathLst>
              <a:path h="3377670" w="2229262">
                <a:moveTo>
                  <a:pt x="0" y="0"/>
                </a:moveTo>
                <a:lnTo>
                  <a:pt x="2229262" y="0"/>
                </a:lnTo>
                <a:lnTo>
                  <a:pt x="2229262" y="3377669"/>
                </a:lnTo>
                <a:lnTo>
                  <a:pt x="0" y="33776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6" id="36"/>
          <p:cNvSpPr txBox="true"/>
          <p:nvPr/>
        </p:nvSpPr>
        <p:spPr>
          <a:xfrm rot="0">
            <a:off x="2300867" y="1843134"/>
            <a:ext cx="2746608" cy="2083233"/>
          </a:xfrm>
          <a:prstGeom prst="rect">
            <a:avLst/>
          </a:prstGeom>
        </p:spPr>
        <p:txBody>
          <a:bodyPr anchor="t" rtlCol="false" tIns="0" lIns="0" bIns="0" rIns="0">
            <a:spAutoFit/>
          </a:bodyPr>
          <a:lstStyle/>
          <a:p>
            <a:pPr algn="ctr">
              <a:lnSpc>
                <a:spcPts val="4879"/>
              </a:lnSpc>
            </a:pPr>
            <a:r>
              <a:rPr lang="en-US" sz="3485" b="true">
                <a:solidFill>
                  <a:srgbClr val="3BAB64"/>
                </a:solidFill>
                <a:latin typeface="Cakerolli Bold"/>
                <a:ea typeface="Cakerolli Bold"/>
                <a:cs typeface="Cakerolli Bold"/>
                <a:sym typeface="Cakerolli Bold"/>
              </a:rPr>
              <a:t>4.1. Kiểm thử Login &amp; register</a:t>
            </a:r>
          </a:p>
        </p:txBody>
      </p:sp>
      <p:sp>
        <p:nvSpPr>
          <p:cNvPr name="Freeform 37" id="37"/>
          <p:cNvSpPr/>
          <p:nvPr/>
        </p:nvSpPr>
        <p:spPr>
          <a:xfrm flipH="false" flipV="true" rot="5400000">
            <a:off x="9093189" y="1265388"/>
            <a:ext cx="2229262" cy="3377670"/>
          </a:xfrm>
          <a:custGeom>
            <a:avLst/>
            <a:gdLst/>
            <a:ahLst/>
            <a:cxnLst/>
            <a:rect r="r" b="b" t="t" l="l"/>
            <a:pathLst>
              <a:path h="3377670" w="2229262">
                <a:moveTo>
                  <a:pt x="0" y="3377669"/>
                </a:moveTo>
                <a:lnTo>
                  <a:pt x="2229262" y="3377669"/>
                </a:lnTo>
                <a:lnTo>
                  <a:pt x="2229262" y="0"/>
                </a:lnTo>
                <a:lnTo>
                  <a:pt x="0" y="0"/>
                </a:lnTo>
                <a:lnTo>
                  <a:pt x="0" y="3377669"/>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8" id="38"/>
          <p:cNvSpPr/>
          <p:nvPr/>
        </p:nvSpPr>
        <p:spPr>
          <a:xfrm flipH="false" flipV="false" rot="0">
            <a:off x="9144000" y="4247546"/>
            <a:ext cx="2115547" cy="215401"/>
          </a:xfrm>
          <a:custGeom>
            <a:avLst/>
            <a:gdLst/>
            <a:ahLst/>
            <a:cxnLst/>
            <a:rect r="r" b="b" t="t" l="l"/>
            <a:pathLst>
              <a:path h="215401" w="2115547">
                <a:moveTo>
                  <a:pt x="0" y="0"/>
                </a:moveTo>
                <a:lnTo>
                  <a:pt x="2115547" y="0"/>
                </a:lnTo>
                <a:lnTo>
                  <a:pt x="2115547" y="215401"/>
                </a:lnTo>
                <a:lnTo>
                  <a:pt x="0" y="2154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9" id="39"/>
          <p:cNvSpPr txBox="true"/>
          <p:nvPr/>
        </p:nvSpPr>
        <p:spPr>
          <a:xfrm rot="0">
            <a:off x="8773153" y="2095501"/>
            <a:ext cx="2857241" cy="1402284"/>
          </a:xfrm>
          <a:prstGeom prst="rect">
            <a:avLst/>
          </a:prstGeom>
        </p:spPr>
        <p:txBody>
          <a:bodyPr anchor="t" rtlCol="false" tIns="0" lIns="0" bIns="0" rIns="0">
            <a:spAutoFit/>
          </a:bodyPr>
          <a:lstStyle/>
          <a:p>
            <a:pPr algn="ctr">
              <a:lnSpc>
                <a:spcPts val="4642"/>
              </a:lnSpc>
            </a:pPr>
            <a:r>
              <a:rPr lang="en-US" sz="3316" b="true">
                <a:solidFill>
                  <a:srgbClr val="E080B4"/>
                </a:solidFill>
                <a:latin typeface="Cakerolli Bold"/>
                <a:ea typeface="Cakerolli Bold"/>
                <a:cs typeface="Cakerolli Bold"/>
                <a:sym typeface="Cakerolli Bold"/>
              </a:rPr>
              <a:t>4.2. Kiểm thử quản lý bàn </a:t>
            </a:r>
          </a:p>
        </p:txBody>
      </p:sp>
      <p:sp>
        <p:nvSpPr>
          <p:cNvPr name="TextBox 40" id="40"/>
          <p:cNvSpPr txBox="true"/>
          <p:nvPr/>
        </p:nvSpPr>
        <p:spPr>
          <a:xfrm rot="0">
            <a:off x="5915290" y="-63836"/>
            <a:ext cx="11745459" cy="1210913"/>
          </a:xfrm>
          <a:prstGeom prst="rect">
            <a:avLst/>
          </a:prstGeom>
        </p:spPr>
        <p:txBody>
          <a:bodyPr anchor="t" rtlCol="false" tIns="0" lIns="0" bIns="0" rIns="0">
            <a:spAutoFit/>
          </a:bodyPr>
          <a:lstStyle/>
          <a:p>
            <a:pPr algn="l">
              <a:lnSpc>
                <a:spcPts val="6877"/>
              </a:lnSpc>
            </a:pPr>
            <a:r>
              <a:rPr lang="en-US" sz="4912" b="true">
                <a:solidFill>
                  <a:srgbClr val="485B90"/>
                </a:solidFill>
                <a:latin typeface="Cakerolli Ultra-Bold"/>
                <a:ea typeface="Cakerolli Ultra-Bold"/>
                <a:cs typeface="Cakerolli Ultra-Bold"/>
                <a:sym typeface="Cakerolli Ultra-Bold"/>
              </a:rPr>
              <a:t>Chương 4: Kiểm thử chương trình </a:t>
            </a:r>
          </a:p>
        </p:txBody>
      </p:sp>
      <p:sp>
        <p:nvSpPr>
          <p:cNvPr name="Freeform 41" id="41"/>
          <p:cNvSpPr/>
          <p:nvPr/>
        </p:nvSpPr>
        <p:spPr>
          <a:xfrm flipH="false" flipV="false" rot="5400000">
            <a:off x="14455834" y="2237532"/>
            <a:ext cx="2229262" cy="3377670"/>
          </a:xfrm>
          <a:custGeom>
            <a:avLst/>
            <a:gdLst/>
            <a:ahLst/>
            <a:cxnLst/>
            <a:rect r="r" b="b" t="t" l="l"/>
            <a:pathLst>
              <a:path h="3377670" w="2229262">
                <a:moveTo>
                  <a:pt x="0" y="0"/>
                </a:moveTo>
                <a:lnTo>
                  <a:pt x="2229262" y="0"/>
                </a:lnTo>
                <a:lnTo>
                  <a:pt x="2229262" y="3377670"/>
                </a:lnTo>
                <a:lnTo>
                  <a:pt x="0" y="33776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2" id="42"/>
          <p:cNvSpPr/>
          <p:nvPr/>
        </p:nvSpPr>
        <p:spPr>
          <a:xfrm flipH="false" flipV="false" rot="5400000">
            <a:off x="10998271" y="5666303"/>
            <a:ext cx="2229262" cy="3377670"/>
          </a:xfrm>
          <a:custGeom>
            <a:avLst/>
            <a:gdLst/>
            <a:ahLst/>
            <a:cxnLst/>
            <a:rect r="r" b="b" t="t" l="l"/>
            <a:pathLst>
              <a:path h="3377670" w="2229262">
                <a:moveTo>
                  <a:pt x="0" y="0"/>
                </a:moveTo>
                <a:lnTo>
                  <a:pt x="2229262" y="0"/>
                </a:lnTo>
                <a:lnTo>
                  <a:pt x="2229262" y="3377669"/>
                </a:lnTo>
                <a:lnTo>
                  <a:pt x="0" y="33776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3" id="43"/>
          <p:cNvSpPr/>
          <p:nvPr/>
        </p:nvSpPr>
        <p:spPr>
          <a:xfrm flipH="false" flipV="false" rot="0">
            <a:off x="11148540" y="8580180"/>
            <a:ext cx="2115547" cy="215401"/>
          </a:xfrm>
          <a:custGeom>
            <a:avLst/>
            <a:gdLst/>
            <a:ahLst/>
            <a:cxnLst/>
            <a:rect r="r" b="b" t="t" l="l"/>
            <a:pathLst>
              <a:path h="215401" w="2115547">
                <a:moveTo>
                  <a:pt x="0" y="0"/>
                </a:moveTo>
                <a:lnTo>
                  <a:pt x="2115548" y="0"/>
                </a:lnTo>
                <a:lnTo>
                  <a:pt x="2115548" y="215401"/>
                </a:lnTo>
                <a:lnTo>
                  <a:pt x="0" y="2154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4" id="44"/>
          <p:cNvSpPr/>
          <p:nvPr/>
        </p:nvSpPr>
        <p:spPr>
          <a:xfrm flipH="false" flipV="false" rot="0">
            <a:off x="14679249" y="5216638"/>
            <a:ext cx="2115547" cy="215401"/>
          </a:xfrm>
          <a:custGeom>
            <a:avLst/>
            <a:gdLst/>
            <a:ahLst/>
            <a:cxnLst/>
            <a:rect r="r" b="b" t="t" l="l"/>
            <a:pathLst>
              <a:path h="215401" w="2115547">
                <a:moveTo>
                  <a:pt x="0" y="0"/>
                </a:moveTo>
                <a:lnTo>
                  <a:pt x="2115548" y="0"/>
                </a:lnTo>
                <a:lnTo>
                  <a:pt x="2115548" y="215401"/>
                </a:lnTo>
                <a:lnTo>
                  <a:pt x="0" y="2154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45" id="45"/>
          <p:cNvSpPr txBox="true"/>
          <p:nvPr/>
        </p:nvSpPr>
        <p:spPr>
          <a:xfrm rot="0">
            <a:off x="14064963" y="3086662"/>
            <a:ext cx="2869319" cy="1374611"/>
          </a:xfrm>
          <a:prstGeom prst="rect">
            <a:avLst/>
          </a:prstGeom>
        </p:spPr>
        <p:txBody>
          <a:bodyPr anchor="t" rtlCol="false" tIns="0" lIns="0" bIns="0" rIns="0">
            <a:spAutoFit/>
          </a:bodyPr>
          <a:lstStyle/>
          <a:p>
            <a:pPr algn="ctr">
              <a:lnSpc>
                <a:spcPts val="4575"/>
              </a:lnSpc>
              <a:spcBef>
                <a:spcPct val="0"/>
              </a:spcBef>
            </a:pPr>
            <a:r>
              <a:rPr lang="en-US" b="true" sz="3268">
                <a:solidFill>
                  <a:srgbClr val="4249C6"/>
                </a:solidFill>
                <a:latin typeface="Cakerolli Bold"/>
                <a:ea typeface="Cakerolli Bold"/>
                <a:cs typeface="Cakerolli Bold"/>
                <a:sym typeface="Cakerolli Bold"/>
              </a:rPr>
              <a:t>4.3. Kiểm thử thực đơn</a:t>
            </a:r>
          </a:p>
        </p:txBody>
      </p:sp>
      <p:sp>
        <p:nvSpPr>
          <p:cNvPr name="TextBox 46" id="46"/>
          <p:cNvSpPr txBox="true"/>
          <p:nvPr/>
        </p:nvSpPr>
        <p:spPr>
          <a:xfrm rot="0">
            <a:off x="3062747" y="6091539"/>
            <a:ext cx="2871364" cy="1919488"/>
          </a:xfrm>
          <a:prstGeom prst="rect">
            <a:avLst/>
          </a:prstGeom>
        </p:spPr>
        <p:txBody>
          <a:bodyPr anchor="t" rtlCol="false" tIns="0" lIns="0" bIns="0" rIns="0">
            <a:spAutoFit/>
          </a:bodyPr>
          <a:lstStyle/>
          <a:p>
            <a:pPr algn="ctr">
              <a:lnSpc>
                <a:spcPts val="4451"/>
              </a:lnSpc>
              <a:spcBef>
                <a:spcPct val="0"/>
              </a:spcBef>
            </a:pPr>
            <a:r>
              <a:rPr lang="en-US" b="true" sz="3179">
                <a:solidFill>
                  <a:srgbClr val="7ED957"/>
                </a:solidFill>
                <a:latin typeface="Cakerolli Bold"/>
                <a:ea typeface="Cakerolli Bold"/>
                <a:cs typeface="Cakerolli Bold"/>
                <a:sym typeface="Cakerolli Bold"/>
              </a:rPr>
              <a:t>4.4. Kiểm thử quản lý nhân viên </a:t>
            </a:r>
          </a:p>
        </p:txBody>
      </p:sp>
      <p:sp>
        <p:nvSpPr>
          <p:cNvPr name="Freeform 47" id="47"/>
          <p:cNvSpPr/>
          <p:nvPr/>
        </p:nvSpPr>
        <p:spPr>
          <a:xfrm flipH="false" flipV="false" rot="5400000">
            <a:off x="3383799" y="5519611"/>
            <a:ext cx="2229262" cy="3377670"/>
          </a:xfrm>
          <a:custGeom>
            <a:avLst/>
            <a:gdLst/>
            <a:ahLst/>
            <a:cxnLst/>
            <a:rect r="r" b="b" t="t" l="l"/>
            <a:pathLst>
              <a:path h="3377670" w="2229262">
                <a:moveTo>
                  <a:pt x="0" y="0"/>
                </a:moveTo>
                <a:lnTo>
                  <a:pt x="2229261" y="0"/>
                </a:lnTo>
                <a:lnTo>
                  <a:pt x="2229261" y="3377669"/>
                </a:lnTo>
                <a:lnTo>
                  <a:pt x="0" y="33776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8" id="48"/>
          <p:cNvSpPr/>
          <p:nvPr/>
        </p:nvSpPr>
        <p:spPr>
          <a:xfrm flipH="false" flipV="false" rot="0">
            <a:off x="3156075" y="8580180"/>
            <a:ext cx="2115547" cy="215401"/>
          </a:xfrm>
          <a:custGeom>
            <a:avLst/>
            <a:gdLst/>
            <a:ahLst/>
            <a:cxnLst/>
            <a:rect r="r" b="b" t="t" l="l"/>
            <a:pathLst>
              <a:path h="215401" w="2115547">
                <a:moveTo>
                  <a:pt x="0" y="0"/>
                </a:moveTo>
                <a:lnTo>
                  <a:pt x="2115547" y="0"/>
                </a:lnTo>
                <a:lnTo>
                  <a:pt x="2115547" y="215401"/>
                </a:lnTo>
                <a:lnTo>
                  <a:pt x="0" y="2154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49" id="49"/>
          <p:cNvSpPr txBox="true"/>
          <p:nvPr/>
        </p:nvSpPr>
        <p:spPr>
          <a:xfrm rot="0">
            <a:off x="10798761" y="6646629"/>
            <a:ext cx="2815107" cy="117889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4.5. Kiểm thử thống kê</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497636" y="7840032"/>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4015287" y="2376633"/>
            <a:ext cx="9268652" cy="7236053"/>
          </a:xfrm>
          <a:custGeom>
            <a:avLst/>
            <a:gdLst/>
            <a:ahLst/>
            <a:cxnLst/>
            <a:rect r="r" b="b" t="t" l="l"/>
            <a:pathLst>
              <a:path h="7236053" w="9268652">
                <a:moveTo>
                  <a:pt x="0" y="0"/>
                </a:moveTo>
                <a:lnTo>
                  <a:pt x="9268652" y="0"/>
                </a:lnTo>
                <a:lnTo>
                  <a:pt x="9268652" y="7236053"/>
                </a:lnTo>
                <a:lnTo>
                  <a:pt x="0" y="7236053"/>
                </a:lnTo>
                <a:lnTo>
                  <a:pt x="0" y="0"/>
                </a:lnTo>
                <a:close/>
              </a:path>
            </a:pathLst>
          </a:custGeom>
          <a:blipFill>
            <a:blip r:embed="rId14"/>
            <a:stretch>
              <a:fillRect l="0" t="0" r="0" b="0"/>
            </a:stretch>
          </a:blipFill>
        </p:spPr>
      </p:sp>
      <p:sp>
        <p:nvSpPr>
          <p:cNvPr name="TextBox 35" id="35"/>
          <p:cNvSpPr txBox="true"/>
          <p:nvPr/>
        </p:nvSpPr>
        <p:spPr>
          <a:xfrm rot="0">
            <a:off x="2414411" y="1286836"/>
            <a:ext cx="8143699" cy="851296"/>
          </a:xfrm>
          <a:prstGeom prst="rect">
            <a:avLst/>
          </a:prstGeom>
        </p:spPr>
        <p:txBody>
          <a:bodyPr anchor="t" rtlCol="false" tIns="0" lIns="0" bIns="0" rIns="0">
            <a:spAutoFit/>
          </a:bodyPr>
          <a:lstStyle/>
          <a:p>
            <a:pPr algn="ctr">
              <a:lnSpc>
                <a:spcPts val="4879"/>
              </a:lnSpc>
            </a:pPr>
            <a:r>
              <a:rPr lang="en-US" sz="3485" b="true">
                <a:solidFill>
                  <a:srgbClr val="3BAB64"/>
                </a:solidFill>
                <a:latin typeface="Cakerolli Bold"/>
                <a:ea typeface="Cakerolli Bold"/>
                <a:cs typeface="Cakerolli Bold"/>
                <a:sym typeface="Cakerolli Bold"/>
              </a:rPr>
              <a:t>4.1. Kiểm thử Login &amp; register</a:t>
            </a:r>
          </a:p>
        </p:txBody>
      </p:sp>
      <p:sp>
        <p:nvSpPr>
          <p:cNvPr name="TextBox 36" id="36"/>
          <p:cNvSpPr txBox="true"/>
          <p:nvPr/>
        </p:nvSpPr>
        <p:spPr>
          <a:xfrm rot="0">
            <a:off x="5915290" y="-63836"/>
            <a:ext cx="11745459" cy="1210913"/>
          </a:xfrm>
          <a:prstGeom prst="rect">
            <a:avLst/>
          </a:prstGeom>
        </p:spPr>
        <p:txBody>
          <a:bodyPr anchor="t" rtlCol="false" tIns="0" lIns="0" bIns="0" rIns="0">
            <a:spAutoFit/>
          </a:bodyPr>
          <a:lstStyle/>
          <a:p>
            <a:pPr algn="l">
              <a:lnSpc>
                <a:spcPts val="6877"/>
              </a:lnSpc>
            </a:pPr>
            <a:r>
              <a:rPr lang="en-US" sz="4912" b="true">
                <a:solidFill>
                  <a:srgbClr val="485B90"/>
                </a:solidFill>
                <a:latin typeface="Cakerolli Ultra-Bold"/>
                <a:ea typeface="Cakerolli Ultra-Bold"/>
                <a:cs typeface="Cakerolli Ultra-Bold"/>
                <a:sym typeface="Cakerolli Ultra-Bold"/>
              </a:rPr>
              <a:t>Chương 4: Kiểm thử chương trình </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4467102" y="2595414"/>
            <a:ext cx="7320918" cy="7107480"/>
          </a:xfrm>
          <a:custGeom>
            <a:avLst/>
            <a:gdLst/>
            <a:ahLst/>
            <a:cxnLst/>
            <a:rect r="r" b="b" t="t" l="l"/>
            <a:pathLst>
              <a:path h="7107480" w="7320918">
                <a:moveTo>
                  <a:pt x="0" y="0"/>
                </a:moveTo>
                <a:lnTo>
                  <a:pt x="7320918" y="0"/>
                </a:lnTo>
                <a:lnTo>
                  <a:pt x="7320918" y="7107480"/>
                </a:lnTo>
                <a:lnTo>
                  <a:pt x="0" y="7107480"/>
                </a:lnTo>
                <a:lnTo>
                  <a:pt x="0" y="0"/>
                </a:lnTo>
                <a:close/>
              </a:path>
            </a:pathLst>
          </a:custGeom>
          <a:blipFill>
            <a:blip r:embed="rId14"/>
            <a:stretch>
              <a:fillRect l="0" t="0" r="0" b="0"/>
            </a:stretch>
          </a:blipFill>
        </p:spPr>
      </p:sp>
      <p:sp>
        <p:nvSpPr>
          <p:cNvPr name="TextBox 35" id="35"/>
          <p:cNvSpPr txBox="true"/>
          <p:nvPr/>
        </p:nvSpPr>
        <p:spPr>
          <a:xfrm rot="0">
            <a:off x="2414411" y="1286836"/>
            <a:ext cx="8143699" cy="851296"/>
          </a:xfrm>
          <a:prstGeom prst="rect">
            <a:avLst/>
          </a:prstGeom>
        </p:spPr>
        <p:txBody>
          <a:bodyPr anchor="t" rtlCol="false" tIns="0" lIns="0" bIns="0" rIns="0">
            <a:spAutoFit/>
          </a:bodyPr>
          <a:lstStyle/>
          <a:p>
            <a:pPr algn="ctr">
              <a:lnSpc>
                <a:spcPts val="4879"/>
              </a:lnSpc>
            </a:pPr>
          </a:p>
        </p:txBody>
      </p:sp>
      <p:sp>
        <p:nvSpPr>
          <p:cNvPr name="TextBox 36" id="36"/>
          <p:cNvSpPr txBox="true"/>
          <p:nvPr/>
        </p:nvSpPr>
        <p:spPr>
          <a:xfrm rot="0">
            <a:off x="5915290" y="-63836"/>
            <a:ext cx="11745459" cy="1210913"/>
          </a:xfrm>
          <a:prstGeom prst="rect">
            <a:avLst/>
          </a:prstGeom>
        </p:spPr>
        <p:txBody>
          <a:bodyPr anchor="t" rtlCol="false" tIns="0" lIns="0" bIns="0" rIns="0">
            <a:spAutoFit/>
          </a:bodyPr>
          <a:lstStyle/>
          <a:p>
            <a:pPr algn="l">
              <a:lnSpc>
                <a:spcPts val="6877"/>
              </a:lnSpc>
            </a:pPr>
            <a:r>
              <a:rPr lang="en-US" sz="4912" b="true">
                <a:solidFill>
                  <a:srgbClr val="485B90"/>
                </a:solidFill>
                <a:latin typeface="Cakerolli Ultra-Bold"/>
                <a:ea typeface="Cakerolli Ultra-Bold"/>
                <a:cs typeface="Cakerolli Ultra-Bold"/>
                <a:sym typeface="Cakerolli Ultra-Bold"/>
              </a:rPr>
              <a:t>Chương 4: Kiểm thử chương trình </a:t>
            </a:r>
          </a:p>
        </p:txBody>
      </p:sp>
      <p:sp>
        <p:nvSpPr>
          <p:cNvPr name="TextBox 37" id="37"/>
          <p:cNvSpPr txBox="true"/>
          <p:nvPr/>
        </p:nvSpPr>
        <p:spPr>
          <a:xfrm rot="0">
            <a:off x="3695478" y="1453040"/>
            <a:ext cx="5582303" cy="816190"/>
          </a:xfrm>
          <a:prstGeom prst="rect">
            <a:avLst/>
          </a:prstGeom>
        </p:spPr>
        <p:txBody>
          <a:bodyPr anchor="t" rtlCol="false" tIns="0" lIns="0" bIns="0" rIns="0">
            <a:spAutoFit/>
          </a:bodyPr>
          <a:lstStyle/>
          <a:p>
            <a:pPr algn="ctr">
              <a:lnSpc>
                <a:spcPts val="4642"/>
              </a:lnSpc>
            </a:pPr>
            <a:r>
              <a:rPr lang="en-US" sz="3316" b="true">
                <a:solidFill>
                  <a:srgbClr val="E080B4"/>
                </a:solidFill>
                <a:latin typeface="Cakerolli Bold"/>
                <a:ea typeface="Cakerolli Bold"/>
                <a:cs typeface="Cakerolli Bold"/>
                <a:sym typeface="Cakerolli Bold"/>
              </a:rPr>
              <a:t>4.2. Kiểm thử quản lý bàn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6072690" y="2355859"/>
            <a:ext cx="4488659" cy="6019474"/>
          </a:xfrm>
          <a:custGeom>
            <a:avLst/>
            <a:gdLst/>
            <a:ahLst/>
            <a:cxnLst/>
            <a:rect r="r" b="b" t="t" l="l"/>
            <a:pathLst>
              <a:path h="6019474" w="4488659">
                <a:moveTo>
                  <a:pt x="0" y="0"/>
                </a:moveTo>
                <a:lnTo>
                  <a:pt x="4488659" y="0"/>
                </a:lnTo>
                <a:lnTo>
                  <a:pt x="4488659" y="6019474"/>
                </a:lnTo>
                <a:lnTo>
                  <a:pt x="0" y="6019474"/>
                </a:lnTo>
                <a:lnTo>
                  <a:pt x="0" y="0"/>
                </a:lnTo>
                <a:close/>
              </a:path>
            </a:pathLst>
          </a:custGeom>
          <a:blipFill>
            <a:blip r:embed="rId14"/>
            <a:stretch>
              <a:fillRect l="0" t="0" r="0" b="0"/>
            </a:stretch>
          </a:blipFill>
        </p:spPr>
      </p:sp>
      <p:sp>
        <p:nvSpPr>
          <p:cNvPr name="Freeform 35" id="35"/>
          <p:cNvSpPr/>
          <p:nvPr/>
        </p:nvSpPr>
        <p:spPr>
          <a:xfrm flipH="false" flipV="false" rot="0">
            <a:off x="6072690" y="8375333"/>
            <a:ext cx="4488659" cy="1447221"/>
          </a:xfrm>
          <a:custGeom>
            <a:avLst/>
            <a:gdLst/>
            <a:ahLst/>
            <a:cxnLst/>
            <a:rect r="r" b="b" t="t" l="l"/>
            <a:pathLst>
              <a:path h="1447221" w="4488659">
                <a:moveTo>
                  <a:pt x="0" y="0"/>
                </a:moveTo>
                <a:lnTo>
                  <a:pt x="4488659" y="0"/>
                </a:lnTo>
                <a:lnTo>
                  <a:pt x="4488659" y="1447221"/>
                </a:lnTo>
                <a:lnTo>
                  <a:pt x="0" y="1447221"/>
                </a:lnTo>
                <a:lnTo>
                  <a:pt x="0" y="0"/>
                </a:lnTo>
                <a:close/>
              </a:path>
            </a:pathLst>
          </a:custGeom>
          <a:blipFill>
            <a:blip r:embed="rId15"/>
            <a:stretch>
              <a:fillRect l="-4939" t="-2165" r="0" b="-2165"/>
            </a:stretch>
          </a:blipFill>
        </p:spPr>
      </p:sp>
      <p:sp>
        <p:nvSpPr>
          <p:cNvPr name="TextBox 36" id="36"/>
          <p:cNvSpPr txBox="true"/>
          <p:nvPr/>
        </p:nvSpPr>
        <p:spPr>
          <a:xfrm rot="0">
            <a:off x="5915290" y="-63836"/>
            <a:ext cx="11745459" cy="1210913"/>
          </a:xfrm>
          <a:prstGeom prst="rect">
            <a:avLst/>
          </a:prstGeom>
        </p:spPr>
        <p:txBody>
          <a:bodyPr anchor="t" rtlCol="false" tIns="0" lIns="0" bIns="0" rIns="0">
            <a:spAutoFit/>
          </a:bodyPr>
          <a:lstStyle/>
          <a:p>
            <a:pPr algn="l">
              <a:lnSpc>
                <a:spcPts val="6877"/>
              </a:lnSpc>
            </a:pPr>
            <a:r>
              <a:rPr lang="en-US" sz="4912" b="true">
                <a:solidFill>
                  <a:srgbClr val="485B90"/>
                </a:solidFill>
                <a:latin typeface="Cakerolli Ultra-Bold"/>
                <a:ea typeface="Cakerolli Ultra-Bold"/>
                <a:cs typeface="Cakerolli Ultra-Bold"/>
                <a:sym typeface="Cakerolli Ultra-Bold"/>
              </a:rPr>
              <a:t>Chương 4: Kiểm thử chương trình </a:t>
            </a:r>
          </a:p>
        </p:txBody>
      </p:sp>
      <p:sp>
        <p:nvSpPr>
          <p:cNvPr name="TextBox 37" id="37"/>
          <p:cNvSpPr txBox="true"/>
          <p:nvPr/>
        </p:nvSpPr>
        <p:spPr>
          <a:xfrm rot="0">
            <a:off x="3626394" y="1499151"/>
            <a:ext cx="4892591" cy="798199"/>
          </a:xfrm>
          <a:prstGeom prst="rect">
            <a:avLst/>
          </a:prstGeom>
        </p:spPr>
        <p:txBody>
          <a:bodyPr anchor="t" rtlCol="false" tIns="0" lIns="0" bIns="0" rIns="0">
            <a:spAutoFit/>
          </a:bodyPr>
          <a:lstStyle/>
          <a:p>
            <a:pPr algn="ctr">
              <a:lnSpc>
                <a:spcPts val="4575"/>
              </a:lnSpc>
              <a:spcBef>
                <a:spcPct val="0"/>
              </a:spcBef>
            </a:pPr>
            <a:r>
              <a:rPr lang="en-US" b="true" sz="3268">
                <a:solidFill>
                  <a:srgbClr val="4249C6"/>
                </a:solidFill>
                <a:latin typeface="Cakerolli Bold"/>
                <a:ea typeface="Cakerolli Bold"/>
                <a:cs typeface="Cakerolli Bold"/>
                <a:sym typeface="Cakerolli Bold"/>
              </a:rPr>
              <a:t>4.3. Kiểm thử thực đơn</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3743889" y="3082308"/>
            <a:ext cx="10800222" cy="4295189"/>
          </a:xfrm>
          <a:custGeom>
            <a:avLst/>
            <a:gdLst/>
            <a:ahLst/>
            <a:cxnLst/>
            <a:rect r="r" b="b" t="t" l="l"/>
            <a:pathLst>
              <a:path h="4295189" w="10800222">
                <a:moveTo>
                  <a:pt x="0" y="0"/>
                </a:moveTo>
                <a:lnTo>
                  <a:pt x="10800222" y="0"/>
                </a:lnTo>
                <a:lnTo>
                  <a:pt x="10800222" y="4295189"/>
                </a:lnTo>
                <a:lnTo>
                  <a:pt x="0" y="4295189"/>
                </a:lnTo>
                <a:lnTo>
                  <a:pt x="0" y="0"/>
                </a:lnTo>
                <a:close/>
              </a:path>
            </a:pathLst>
          </a:custGeom>
          <a:blipFill>
            <a:blip r:embed="rId14"/>
            <a:stretch>
              <a:fillRect l="0" t="0" r="0" b="0"/>
            </a:stretch>
          </a:blipFill>
        </p:spPr>
      </p:sp>
      <p:sp>
        <p:nvSpPr>
          <p:cNvPr name="TextBox 35" id="35"/>
          <p:cNvSpPr txBox="true"/>
          <p:nvPr/>
        </p:nvSpPr>
        <p:spPr>
          <a:xfrm rot="0">
            <a:off x="5915290" y="-63836"/>
            <a:ext cx="11745459" cy="1210913"/>
          </a:xfrm>
          <a:prstGeom prst="rect">
            <a:avLst/>
          </a:prstGeom>
        </p:spPr>
        <p:txBody>
          <a:bodyPr anchor="t" rtlCol="false" tIns="0" lIns="0" bIns="0" rIns="0">
            <a:spAutoFit/>
          </a:bodyPr>
          <a:lstStyle/>
          <a:p>
            <a:pPr algn="l">
              <a:lnSpc>
                <a:spcPts val="6877"/>
              </a:lnSpc>
            </a:pPr>
            <a:r>
              <a:rPr lang="en-US" sz="4912" b="true">
                <a:solidFill>
                  <a:srgbClr val="485B90"/>
                </a:solidFill>
                <a:latin typeface="Cakerolli Ultra-Bold"/>
                <a:ea typeface="Cakerolli Ultra-Bold"/>
                <a:cs typeface="Cakerolli Ultra-Bold"/>
                <a:sym typeface="Cakerolli Ultra-Bold"/>
              </a:rPr>
              <a:t>Chương 4: Kiểm thử chương trình </a:t>
            </a:r>
          </a:p>
        </p:txBody>
      </p:sp>
      <p:sp>
        <p:nvSpPr>
          <p:cNvPr name="TextBox 36" id="36"/>
          <p:cNvSpPr txBox="true"/>
          <p:nvPr/>
        </p:nvSpPr>
        <p:spPr>
          <a:xfrm rot="0">
            <a:off x="3448798" y="1296361"/>
            <a:ext cx="6709159" cy="795538"/>
          </a:xfrm>
          <a:prstGeom prst="rect">
            <a:avLst/>
          </a:prstGeom>
        </p:spPr>
        <p:txBody>
          <a:bodyPr anchor="t" rtlCol="false" tIns="0" lIns="0" bIns="0" rIns="0">
            <a:spAutoFit/>
          </a:bodyPr>
          <a:lstStyle/>
          <a:p>
            <a:pPr algn="ctr">
              <a:lnSpc>
                <a:spcPts val="4451"/>
              </a:lnSpc>
              <a:spcBef>
                <a:spcPct val="0"/>
              </a:spcBef>
            </a:pPr>
            <a:r>
              <a:rPr lang="en-US" b="true" sz="3179">
                <a:solidFill>
                  <a:srgbClr val="7ED957"/>
                </a:solidFill>
                <a:latin typeface="Cakerolli Bold"/>
                <a:ea typeface="Cakerolli Bold"/>
                <a:cs typeface="Cakerolli Bold"/>
                <a:sym typeface="Cakerolli Bold"/>
              </a:rPr>
              <a:t>4.4. Kiểm thử quản lý nhân viên </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3825524" y="3395714"/>
            <a:ext cx="12328364" cy="3812529"/>
          </a:xfrm>
          <a:custGeom>
            <a:avLst/>
            <a:gdLst/>
            <a:ahLst/>
            <a:cxnLst/>
            <a:rect r="r" b="b" t="t" l="l"/>
            <a:pathLst>
              <a:path h="3812529" w="12328364">
                <a:moveTo>
                  <a:pt x="0" y="0"/>
                </a:moveTo>
                <a:lnTo>
                  <a:pt x="12328364" y="0"/>
                </a:lnTo>
                <a:lnTo>
                  <a:pt x="12328364" y="3812529"/>
                </a:lnTo>
                <a:lnTo>
                  <a:pt x="0" y="3812529"/>
                </a:lnTo>
                <a:lnTo>
                  <a:pt x="0" y="0"/>
                </a:lnTo>
                <a:close/>
              </a:path>
            </a:pathLst>
          </a:custGeom>
          <a:blipFill>
            <a:blip r:embed="rId14"/>
            <a:stretch>
              <a:fillRect l="0" t="0" r="0" b="0"/>
            </a:stretch>
          </a:blipFill>
        </p:spPr>
      </p:sp>
      <p:sp>
        <p:nvSpPr>
          <p:cNvPr name="TextBox 35" id="35"/>
          <p:cNvSpPr txBox="true"/>
          <p:nvPr/>
        </p:nvSpPr>
        <p:spPr>
          <a:xfrm rot="0">
            <a:off x="5915290" y="-63836"/>
            <a:ext cx="11745459" cy="1210913"/>
          </a:xfrm>
          <a:prstGeom prst="rect">
            <a:avLst/>
          </a:prstGeom>
        </p:spPr>
        <p:txBody>
          <a:bodyPr anchor="t" rtlCol="false" tIns="0" lIns="0" bIns="0" rIns="0">
            <a:spAutoFit/>
          </a:bodyPr>
          <a:lstStyle/>
          <a:p>
            <a:pPr algn="l">
              <a:lnSpc>
                <a:spcPts val="6877"/>
              </a:lnSpc>
            </a:pPr>
            <a:r>
              <a:rPr lang="en-US" sz="4912" b="true">
                <a:solidFill>
                  <a:srgbClr val="485B90"/>
                </a:solidFill>
                <a:latin typeface="Cakerolli Ultra-Bold"/>
                <a:ea typeface="Cakerolli Ultra-Bold"/>
                <a:cs typeface="Cakerolli Ultra-Bold"/>
                <a:sym typeface="Cakerolli Ultra-Bold"/>
              </a:rPr>
              <a:t>Chương 4: Kiểm thử chương trình </a:t>
            </a:r>
          </a:p>
        </p:txBody>
      </p:sp>
      <p:sp>
        <p:nvSpPr>
          <p:cNvPr name="TextBox 36" id="36"/>
          <p:cNvSpPr txBox="true"/>
          <p:nvPr/>
        </p:nvSpPr>
        <p:spPr>
          <a:xfrm rot="0">
            <a:off x="4095664" y="1229403"/>
            <a:ext cx="4382017" cy="702642"/>
          </a:xfrm>
          <a:prstGeom prst="rect">
            <a:avLst/>
          </a:prstGeom>
        </p:spPr>
        <p:txBody>
          <a:bodyPr anchor="t" rtlCol="false" tIns="0" lIns="0" bIns="0" rIns="0">
            <a:spAutoFit/>
          </a:bodyPr>
          <a:lstStyle/>
          <a:p>
            <a:pPr algn="ctr">
              <a:lnSpc>
                <a:spcPts val="3787"/>
              </a:lnSpc>
              <a:spcBef>
                <a:spcPct val="0"/>
              </a:spcBef>
            </a:pPr>
            <a:r>
              <a:rPr lang="en-US" b="true" sz="3079">
                <a:solidFill>
                  <a:srgbClr val="000000"/>
                </a:solidFill>
                <a:latin typeface="Cakerolli Bold"/>
                <a:ea typeface="Cakerolli Bold"/>
                <a:cs typeface="Cakerolli Bold"/>
                <a:sym typeface="Cakerolli Bold"/>
              </a:rPr>
              <a:t>4.5. Kiểm thử thống kê</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2441897" y="5082384"/>
            <a:ext cx="3905389" cy="2492348"/>
          </a:xfrm>
          <a:custGeom>
            <a:avLst/>
            <a:gdLst/>
            <a:ahLst/>
            <a:cxnLst/>
            <a:rect r="r" b="b" t="t" l="l"/>
            <a:pathLst>
              <a:path h="2492348" w="3905389">
                <a:moveTo>
                  <a:pt x="0" y="0"/>
                </a:moveTo>
                <a:lnTo>
                  <a:pt x="3905388" y="0"/>
                </a:lnTo>
                <a:lnTo>
                  <a:pt x="3905388" y="2492348"/>
                </a:lnTo>
                <a:lnTo>
                  <a:pt x="0" y="24923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5" id="35"/>
          <p:cNvSpPr txBox="true"/>
          <p:nvPr/>
        </p:nvSpPr>
        <p:spPr>
          <a:xfrm rot="0">
            <a:off x="3635871" y="1475373"/>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5: Kết luận &amp; tài liệu tham khảo </a:t>
            </a:r>
          </a:p>
        </p:txBody>
      </p:sp>
      <p:sp>
        <p:nvSpPr>
          <p:cNvPr name="TextBox 36" id="36"/>
          <p:cNvSpPr txBox="true"/>
          <p:nvPr/>
        </p:nvSpPr>
        <p:spPr>
          <a:xfrm rot="0">
            <a:off x="3013490" y="5952265"/>
            <a:ext cx="2762202" cy="702642"/>
          </a:xfrm>
          <a:prstGeom prst="rect">
            <a:avLst/>
          </a:prstGeom>
        </p:spPr>
        <p:txBody>
          <a:bodyPr anchor="t" rtlCol="false" tIns="0" lIns="0" bIns="0" rIns="0">
            <a:spAutoFit/>
          </a:bodyPr>
          <a:lstStyle/>
          <a:p>
            <a:pPr algn="ctr" marL="0" indent="0" lvl="0">
              <a:lnSpc>
                <a:spcPts val="3787"/>
              </a:lnSpc>
            </a:pPr>
            <a:r>
              <a:rPr lang="en-US" b="true" sz="3079">
                <a:solidFill>
                  <a:srgbClr val="FFFFFF"/>
                </a:solidFill>
                <a:latin typeface="Cakerolli Bold"/>
                <a:ea typeface="Cakerolli Bold"/>
                <a:cs typeface="Cakerolli Bold"/>
                <a:sym typeface="Cakerolli Bold"/>
              </a:rPr>
              <a:t>5.1 Kết luận</a:t>
            </a:r>
          </a:p>
        </p:txBody>
      </p:sp>
      <p:sp>
        <p:nvSpPr>
          <p:cNvPr name="Freeform 37" id="37"/>
          <p:cNvSpPr/>
          <p:nvPr/>
        </p:nvSpPr>
        <p:spPr>
          <a:xfrm flipH="false" flipV="false" rot="0">
            <a:off x="12094774" y="5234351"/>
            <a:ext cx="3667264" cy="2340381"/>
          </a:xfrm>
          <a:custGeom>
            <a:avLst/>
            <a:gdLst/>
            <a:ahLst/>
            <a:cxnLst/>
            <a:rect r="r" b="b" t="t" l="l"/>
            <a:pathLst>
              <a:path h="2340381" w="3667264">
                <a:moveTo>
                  <a:pt x="0" y="0"/>
                </a:moveTo>
                <a:lnTo>
                  <a:pt x="3667264" y="0"/>
                </a:lnTo>
                <a:lnTo>
                  <a:pt x="3667264" y="2340381"/>
                </a:lnTo>
                <a:lnTo>
                  <a:pt x="0" y="23403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8" id="38"/>
          <p:cNvSpPr txBox="true"/>
          <p:nvPr/>
        </p:nvSpPr>
        <p:spPr>
          <a:xfrm rot="0">
            <a:off x="12593568" y="5566210"/>
            <a:ext cx="2669676" cy="1398553"/>
          </a:xfrm>
          <a:prstGeom prst="rect">
            <a:avLst/>
          </a:prstGeom>
        </p:spPr>
        <p:txBody>
          <a:bodyPr anchor="t" rtlCol="false" tIns="0" lIns="0" bIns="0" rIns="0">
            <a:spAutoFit/>
          </a:bodyPr>
          <a:lstStyle/>
          <a:p>
            <a:pPr algn="ctr">
              <a:lnSpc>
                <a:spcPts val="4626"/>
              </a:lnSpc>
            </a:pPr>
            <a:r>
              <a:rPr lang="en-US" sz="3304" b="true">
                <a:solidFill>
                  <a:srgbClr val="FFFFFF"/>
                </a:solidFill>
                <a:latin typeface="Cakerolli Bold"/>
                <a:ea typeface="Cakerolli Bold"/>
                <a:cs typeface="Cakerolli Bold"/>
                <a:sym typeface="Cakerolli Bold"/>
              </a:rPr>
              <a:t>5.2 Tài liệu tham khảo</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3869712" y="200862"/>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5: Kết luận &amp; tài liệu tham khảo </a:t>
            </a:r>
          </a:p>
        </p:txBody>
      </p:sp>
      <p:sp>
        <p:nvSpPr>
          <p:cNvPr name="TextBox 35" id="35"/>
          <p:cNvSpPr txBox="true"/>
          <p:nvPr/>
        </p:nvSpPr>
        <p:spPr>
          <a:xfrm rot="0">
            <a:off x="2556442" y="1639348"/>
            <a:ext cx="2762202" cy="702642"/>
          </a:xfrm>
          <a:prstGeom prst="rect">
            <a:avLst/>
          </a:prstGeom>
        </p:spPr>
        <p:txBody>
          <a:bodyPr anchor="t" rtlCol="false" tIns="0" lIns="0" bIns="0" rIns="0">
            <a:spAutoFit/>
          </a:bodyPr>
          <a:lstStyle/>
          <a:p>
            <a:pPr algn="ctr" marL="0" indent="0" lvl="0">
              <a:lnSpc>
                <a:spcPts val="3787"/>
              </a:lnSpc>
            </a:pPr>
            <a:r>
              <a:rPr lang="en-US" b="true" sz="3079">
                <a:solidFill>
                  <a:srgbClr val="090000"/>
                </a:solidFill>
                <a:latin typeface="Cakerolli Bold"/>
                <a:ea typeface="Cakerolli Bold"/>
                <a:cs typeface="Cakerolli Bold"/>
                <a:sym typeface="Cakerolli Bold"/>
              </a:rPr>
              <a:t>5.1 Kết luận</a:t>
            </a:r>
          </a:p>
        </p:txBody>
      </p:sp>
      <p:sp>
        <p:nvSpPr>
          <p:cNvPr name="TextBox 36" id="36"/>
          <p:cNvSpPr txBox="true"/>
          <p:nvPr/>
        </p:nvSpPr>
        <p:spPr>
          <a:xfrm rot="0">
            <a:off x="2360648" y="2437240"/>
            <a:ext cx="15468598" cy="6991047"/>
          </a:xfrm>
          <a:prstGeom prst="rect">
            <a:avLst/>
          </a:prstGeom>
        </p:spPr>
        <p:txBody>
          <a:bodyPr anchor="t" rtlCol="false" tIns="0" lIns="0" bIns="0" rIns="0">
            <a:spAutoFit/>
          </a:bodyPr>
          <a:lstStyle/>
          <a:p>
            <a:pPr algn="ctr">
              <a:lnSpc>
                <a:spcPts val="3172"/>
              </a:lnSpc>
            </a:pPr>
            <a:r>
              <a:rPr lang="en-US" sz="2579" b="true">
                <a:solidFill>
                  <a:srgbClr val="000000"/>
                </a:solidFill>
                <a:latin typeface="Cakerolli Bold"/>
                <a:ea typeface="Cakerolli Bold"/>
                <a:cs typeface="Cakerolli Bold"/>
                <a:sym typeface="Cakerolli Bold"/>
              </a:rPr>
              <a:t>Sau thời gian tìm hiểu, nghiên cứu tài liệu và đồ án dưới sự hướng dẫn của cô Trần Thị Huệ, chúng em đã hoàn thành đồ án với đề tài “Quản lý nhà hàng”. Bài tập lớn nhóm em đã đạt được kết quả sau:</a:t>
            </a:r>
          </a:p>
          <a:p>
            <a:pPr algn="ctr">
              <a:lnSpc>
                <a:spcPts val="3172"/>
              </a:lnSpc>
            </a:pPr>
            <a:r>
              <a:rPr lang="en-US" sz="2579" b="true">
                <a:solidFill>
                  <a:srgbClr val="000000"/>
                </a:solidFill>
                <a:latin typeface="Cakerolli Bold"/>
                <a:ea typeface="Cakerolli Bold"/>
                <a:cs typeface="Cakerolli Bold"/>
                <a:sym typeface="Cakerolli Bold"/>
              </a:rPr>
              <a:t>• Khảo sát chi tiết về ưu, nhược điểm của thị trường cũng như cơ cấu tổ chức, đánh giá hiện trạng để xây dựng phần mềm hợp lý, tối ưu, đáp ứng yêu cầu quản lý nhà hàng. Tìm hiểu, phân tích các biểu mẫu có sẵn để xây dựng giao diện thân thiện, khoa học.</a:t>
            </a:r>
          </a:p>
          <a:p>
            <a:pPr algn="ctr">
              <a:lnSpc>
                <a:spcPts val="3172"/>
              </a:lnSpc>
            </a:pPr>
            <a:r>
              <a:rPr lang="en-US" sz="2579" b="true">
                <a:solidFill>
                  <a:srgbClr val="000000"/>
                </a:solidFill>
                <a:latin typeface="Cakerolli Bold"/>
                <a:ea typeface="Cakerolli Bold"/>
                <a:cs typeface="Cakerolli Bold"/>
                <a:sym typeface="Cakerolli Bold"/>
              </a:rPr>
              <a:t>• Phân tích hệ thống ở cả hai phương diện xử lý và dữ liệu. Về xử lý, nhóm đã xây dựng được các sơ đồ chức năng của hệ thống. Về dữ liệu, nhóm đã khảo sát và phân tích để lập ra bộ dữ liệu phù hợp với người dùng.</a:t>
            </a:r>
          </a:p>
          <a:p>
            <a:pPr algn="ctr">
              <a:lnSpc>
                <a:spcPts val="3172"/>
              </a:lnSpc>
            </a:pPr>
            <a:r>
              <a:rPr lang="en-US" sz="2579" b="true">
                <a:solidFill>
                  <a:srgbClr val="000000"/>
                </a:solidFill>
                <a:latin typeface="Cakerolli Bold"/>
                <a:ea typeface="Cakerolli Bold"/>
                <a:cs typeface="Cakerolli Bold"/>
                <a:sym typeface="Cakerolli Bold"/>
              </a:rPr>
              <a:t>• Chương trình được thiết kế đơn giản, dễ cài đặt và sử dụng, truy cập dữ liệu nhanh chóng, chính xác và thao tác đơn giản.</a:t>
            </a:r>
          </a:p>
          <a:p>
            <a:pPr algn="ctr">
              <a:lnSpc>
                <a:spcPts val="3172"/>
              </a:lnSpc>
            </a:pPr>
            <a:r>
              <a:rPr lang="en-US" sz="2579" b="true">
                <a:solidFill>
                  <a:srgbClr val="000000"/>
                </a:solidFill>
                <a:latin typeface="Cakerolli Bold"/>
                <a:ea typeface="Cakerolli Bold"/>
                <a:cs typeface="Cakerolli Bold"/>
                <a:sym typeface="Cakerolli Bold"/>
              </a:rPr>
              <a:t> Đi đôi với kết quả đạt được, đồ án nhóm em còn tồn đọng một số hạn chế về nghiên cứu cũng như tiếp cận thực tế:</a:t>
            </a:r>
          </a:p>
          <a:p>
            <a:pPr algn="ctr">
              <a:lnSpc>
                <a:spcPts val="3172"/>
              </a:lnSpc>
            </a:pPr>
            <a:r>
              <a:rPr lang="en-US" sz="2579" b="true">
                <a:solidFill>
                  <a:srgbClr val="000000"/>
                </a:solidFill>
                <a:latin typeface="Cakerolli Bold"/>
                <a:ea typeface="Cakerolli Bold"/>
                <a:cs typeface="Cakerolli Bold"/>
                <a:sym typeface="Cakerolli Bold"/>
              </a:rPr>
              <a:t>• Chưa đầy đủ các chức năng quản lý: Phần mềm hiện tại chỉ bao gồm các chức năng quản lý cơ bản như quản lý bán hàng, nhân viên, món ăn và thống kê. </a:t>
            </a:r>
          </a:p>
          <a:p>
            <a:pPr algn="ctr">
              <a:lnSpc>
                <a:spcPts val="3172"/>
              </a:lnSpc>
            </a:pPr>
            <a:r>
              <a:rPr lang="en-US" sz="2579" b="true">
                <a:solidFill>
                  <a:srgbClr val="000000"/>
                </a:solidFill>
                <a:latin typeface="Cakerolli Bold"/>
                <a:ea typeface="Cakerolli Bold"/>
                <a:cs typeface="Cakerolli Bold"/>
                <a:sym typeface="Cakerolli Bold"/>
              </a:rPr>
              <a:t>• Giao diện người dùng còn khá đơn giản, chưa được tối ưu để dễ sử dụng hơn. Nhóm em sẽ cố gắng cải thiện giao diện người dùng trong tương lai giúp người dùng dễ dàng thao tác và sử dụng phần mềm</a:t>
            </a:r>
          </a:p>
          <a:p>
            <a:pPr algn="ctr">
              <a:lnSpc>
                <a:spcPts val="3172"/>
              </a:lnSpc>
              <a:spcBef>
                <a:spcPct val="0"/>
              </a:spcBef>
            </a:pP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3869712" y="200862"/>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5: Kết luận &amp; tài liệu tham khảo </a:t>
            </a:r>
          </a:p>
        </p:txBody>
      </p:sp>
      <p:sp>
        <p:nvSpPr>
          <p:cNvPr name="TextBox 35" id="35"/>
          <p:cNvSpPr txBox="true"/>
          <p:nvPr/>
        </p:nvSpPr>
        <p:spPr>
          <a:xfrm rot="0">
            <a:off x="2556442" y="1639348"/>
            <a:ext cx="2762202" cy="702642"/>
          </a:xfrm>
          <a:prstGeom prst="rect">
            <a:avLst/>
          </a:prstGeom>
        </p:spPr>
        <p:txBody>
          <a:bodyPr anchor="t" rtlCol="false" tIns="0" lIns="0" bIns="0" rIns="0">
            <a:spAutoFit/>
          </a:bodyPr>
          <a:lstStyle/>
          <a:p>
            <a:pPr algn="ctr" marL="0" indent="0" lvl="0">
              <a:lnSpc>
                <a:spcPts val="3787"/>
              </a:lnSpc>
            </a:pPr>
            <a:r>
              <a:rPr lang="en-US" b="true" sz="3079">
                <a:solidFill>
                  <a:srgbClr val="090000"/>
                </a:solidFill>
                <a:latin typeface="Cakerolli Bold"/>
                <a:ea typeface="Cakerolli Bold"/>
                <a:cs typeface="Cakerolli Bold"/>
                <a:sym typeface="Cakerolli Bold"/>
              </a:rPr>
              <a:t>5.1 Kết luận</a:t>
            </a:r>
          </a:p>
        </p:txBody>
      </p:sp>
      <p:sp>
        <p:nvSpPr>
          <p:cNvPr name="TextBox 36" id="36"/>
          <p:cNvSpPr txBox="true"/>
          <p:nvPr/>
        </p:nvSpPr>
        <p:spPr>
          <a:xfrm rot="0">
            <a:off x="2225467" y="2997954"/>
            <a:ext cx="15371125" cy="5219897"/>
          </a:xfrm>
          <a:prstGeom prst="rect">
            <a:avLst/>
          </a:prstGeom>
        </p:spPr>
        <p:txBody>
          <a:bodyPr anchor="t" rtlCol="false" tIns="0" lIns="0" bIns="0" rIns="0">
            <a:spAutoFit/>
          </a:bodyPr>
          <a:lstStyle/>
          <a:p>
            <a:pPr algn="l">
              <a:lnSpc>
                <a:spcPts val="4372"/>
              </a:lnSpc>
            </a:pPr>
            <a:r>
              <a:rPr lang="en-US" sz="3554" b="true">
                <a:solidFill>
                  <a:srgbClr val="000000"/>
                </a:solidFill>
                <a:latin typeface="Cakerolli Bold"/>
                <a:ea typeface="Cakerolli Bold"/>
                <a:cs typeface="Cakerolli Bold"/>
                <a:sym typeface="Cakerolli Bold"/>
              </a:rPr>
              <a:t> Hướng phát triển trong tương lai của đề tài là:</a:t>
            </a:r>
          </a:p>
          <a:p>
            <a:pPr algn="l">
              <a:lnSpc>
                <a:spcPts val="4372"/>
              </a:lnSpc>
            </a:pPr>
            <a:r>
              <a:rPr lang="en-US" sz="3554" b="true">
                <a:solidFill>
                  <a:srgbClr val="000000"/>
                </a:solidFill>
                <a:latin typeface="Cakerolli Bold"/>
                <a:ea typeface="Cakerolli Bold"/>
                <a:cs typeface="Cakerolli Bold"/>
                <a:sym typeface="Cakerolli Bold"/>
              </a:rPr>
              <a:t>• Tích hợp thêm các ứng dụng khác: phần mềm quản lý nhân sự.</a:t>
            </a:r>
          </a:p>
          <a:p>
            <a:pPr algn="l">
              <a:lnSpc>
                <a:spcPts val="4372"/>
              </a:lnSpc>
            </a:pPr>
            <a:r>
              <a:rPr lang="en-US" sz="3554" b="true">
                <a:solidFill>
                  <a:srgbClr val="000000"/>
                </a:solidFill>
                <a:latin typeface="Cakerolli Bold"/>
                <a:ea typeface="Cakerolli Bold"/>
                <a:cs typeface="Cakerolli Bold"/>
                <a:sym typeface="Cakerolli Bold"/>
              </a:rPr>
              <a:t>• Nâng cấp giao diện hợp lý, phù hợp với xu thế trong tương lai.</a:t>
            </a:r>
          </a:p>
          <a:p>
            <a:pPr algn="l">
              <a:lnSpc>
                <a:spcPts val="4372"/>
              </a:lnSpc>
            </a:pPr>
            <a:r>
              <a:rPr lang="en-US" sz="3554" b="true">
                <a:solidFill>
                  <a:srgbClr val="000000"/>
                </a:solidFill>
                <a:latin typeface="Cakerolli Bold"/>
                <a:ea typeface="Cakerolli Bold"/>
                <a:cs typeface="Cakerolli Bold"/>
                <a:sym typeface="Cakerolli Bold"/>
              </a:rPr>
              <a:t>• Cải thiện tính năng đồng bộ và tích hợp với các thiết bị POS hiện đại. • Phát triển bản di động tích hợp trên nhiều nền tảng (iOS, Android). </a:t>
            </a:r>
          </a:p>
          <a:p>
            <a:pPr algn="l">
              <a:lnSpc>
                <a:spcPts val="4372"/>
              </a:lnSpc>
            </a:pPr>
            <a:r>
              <a:rPr lang="en-US" sz="3554" b="true">
                <a:solidFill>
                  <a:srgbClr val="000000"/>
                </a:solidFill>
                <a:latin typeface="Cakerolli Bold"/>
                <a:ea typeface="Cakerolli Bold"/>
                <a:cs typeface="Cakerolli Bold"/>
                <a:sym typeface="Cakerolli Bold"/>
              </a:rPr>
              <a:t>• Tăng cường tính năng báo cáo và phân tích dữ liệu để hỗ trợ ra quyết định.</a:t>
            </a:r>
          </a:p>
          <a:p>
            <a:pPr algn="l">
              <a:lnSpc>
                <a:spcPts val="4372"/>
              </a:lnSpc>
            </a:pPr>
            <a:r>
              <a:rPr lang="en-US" sz="3554" b="true">
                <a:solidFill>
                  <a:srgbClr val="000000"/>
                </a:solidFill>
                <a:latin typeface="Cakerolli Bold"/>
                <a:ea typeface="Cakerolli Bold"/>
                <a:cs typeface="Cakerolli Bold"/>
                <a:sym typeface="Cakerolli Bold"/>
              </a:rPr>
              <a:t>Cập nhật phần mềm thường xuyên: giúp nâng cao khả năng quản lý.</a:t>
            </a:r>
          </a:p>
          <a:p>
            <a:pPr algn="l">
              <a:lnSpc>
                <a:spcPts val="4372"/>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3869712" y="200862"/>
            <a:ext cx="13389588" cy="1391285"/>
          </a:xfrm>
          <a:prstGeom prst="rect">
            <a:avLst/>
          </a:prstGeom>
        </p:spPr>
        <p:txBody>
          <a:bodyPr anchor="t" rtlCol="false" tIns="0" lIns="0" bIns="0" rIns="0">
            <a:spAutoFit/>
          </a:bodyPr>
          <a:lstStyle/>
          <a:p>
            <a:pPr algn="l">
              <a:lnSpc>
                <a:spcPts val="7840"/>
              </a:lnSpc>
            </a:pPr>
            <a:r>
              <a:rPr lang="en-US" sz="5600" b="true">
                <a:solidFill>
                  <a:srgbClr val="485B90"/>
                </a:solidFill>
                <a:latin typeface="Cakerolli Ultra-Bold"/>
                <a:ea typeface="Cakerolli Ultra-Bold"/>
                <a:cs typeface="Cakerolli Ultra-Bold"/>
                <a:sym typeface="Cakerolli Ultra-Bold"/>
              </a:rPr>
              <a:t>Chương 5: Kết luận &amp; tài liệu tham khảo </a:t>
            </a:r>
          </a:p>
        </p:txBody>
      </p:sp>
      <p:sp>
        <p:nvSpPr>
          <p:cNvPr name="TextBox 35" id="35"/>
          <p:cNvSpPr txBox="true"/>
          <p:nvPr/>
        </p:nvSpPr>
        <p:spPr>
          <a:xfrm rot="0">
            <a:off x="1897885" y="1693919"/>
            <a:ext cx="5467372" cy="702642"/>
          </a:xfrm>
          <a:prstGeom prst="rect">
            <a:avLst/>
          </a:prstGeom>
        </p:spPr>
        <p:txBody>
          <a:bodyPr anchor="t" rtlCol="false" tIns="0" lIns="0" bIns="0" rIns="0">
            <a:spAutoFit/>
          </a:bodyPr>
          <a:lstStyle/>
          <a:p>
            <a:pPr algn="ctr" marL="0" indent="0" lvl="0">
              <a:lnSpc>
                <a:spcPts val="3787"/>
              </a:lnSpc>
            </a:pPr>
            <a:r>
              <a:rPr lang="en-US" b="true" sz="3079">
                <a:solidFill>
                  <a:srgbClr val="090000"/>
                </a:solidFill>
                <a:latin typeface="Cakerolli Bold"/>
                <a:ea typeface="Cakerolli Bold"/>
                <a:cs typeface="Cakerolli Bold"/>
                <a:sym typeface="Cakerolli Bold"/>
              </a:rPr>
              <a:t>5.2 Tài liệu tham khảo</a:t>
            </a:r>
          </a:p>
        </p:txBody>
      </p:sp>
      <p:sp>
        <p:nvSpPr>
          <p:cNvPr name="TextBox 36" id="36"/>
          <p:cNvSpPr txBox="true"/>
          <p:nvPr/>
        </p:nvSpPr>
        <p:spPr>
          <a:xfrm rot="0">
            <a:off x="2458121" y="2515604"/>
            <a:ext cx="15371125" cy="6319384"/>
          </a:xfrm>
          <a:prstGeom prst="rect">
            <a:avLst/>
          </a:prstGeom>
        </p:spPr>
        <p:txBody>
          <a:bodyPr anchor="t" rtlCol="false" tIns="0" lIns="0" bIns="0" rIns="0">
            <a:spAutoFit/>
          </a:bodyPr>
          <a:lstStyle/>
          <a:p>
            <a:pPr algn="l">
              <a:lnSpc>
                <a:spcPts val="4372"/>
              </a:lnSpc>
            </a:pPr>
            <a:r>
              <a:rPr lang="en-US" sz="3554" b="true">
                <a:solidFill>
                  <a:srgbClr val="000000"/>
                </a:solidFill>
                <a:latin typeface="Cakerolli Bold"/>
                <a:ea typeface="Cakerolli Bold"/>
                <a:cs typeface="Cakerolli Bold"/>
                <a:sym typeface="Cakerolli Bold"/>
              </a:rPr>
              <a:t>[6] Lập trình Android cơ bản và nâng cao, Trường Đại học Bách Khoa Hà Nội, 2021.      </a:t>
            </a:r>
          </a:p>
          <a:p>
            <a:pPr algn="l">
              <a:lnSpc>
                <a:spcPts val="4372"/>
              </a:lnSpc>
            </a:pPr>
            <a:r>
              <a:rPr lang="en-US" sz="3554" b="true">
                <a:solidFill>
                  <a:srgbClr val="000000"/>
                </a:solidFill>
                <a:latin typeface="Cakerolli Bold"/>
                <a:ea typeface="Cakerolli Bold"/>
                <a:cs typeface="Cakerolli Bold"/>
                <a:sym typeface="Cakerolli Bold"/>
              </a:rPr>
              <a:t> [7] Nguyễn Thành Nam, Hướng dẫn phát triển ứng dụng Android, NXB Giáo dục, 2020. </a:t>
            </a:r>
          </a:p>
          <a:p>
            <a:pPr algn="l">
              <a:lnSpc>
                <a:spcPts val="4372"/>
              </a:lnSpc>
            </a:pPr>
            <a:r>
              <a:rPr lang="en-US" sz="3554" b="true">
                <a:solidFill>
                  <a:srgbClr val="000000"/>
                </a:solidFill>
                <a:latin typeface="Cakerolli Bold"/>
                <a:ea typeface="Cakerolli Bold"/>
                <a:cs typeface="Cakerolli Bold"/>
                <a:sym typeface="Cakerolli Bold"/>
              </a:rPr>
              <a:t>[8] Lê Văn Minh, Phát triển ứng dụng di động với Android Studio, NXB Khoa học và Kỹ thuật, 2022.</a:t>
            </a:r>
          </a:p>
          <a:p>
            <a:pPr algn="l">
              <a:lnSpc>
                <a:spcPts val="4372"/>
              </a:lnSpc>
            </a:pPr>
            <a:r>
              <a:rPr lang="en-US" sz="3554" b="true">
                <a:solidFill>
                  <a:srgbClr val="000000"/>
                </a:solidFill>
                <a:latin typeface="Cakerolli Bold"/>
                <a:ea typeface="Cakerolli Bold"/>
                <a:cs typeface="Cakerolli Bold"/>
                <a:sym typeface="Cakerolli Bold"/>
              </a:rPr>
              <a:t> [9] Tài liệu học tập Kỹ thuật lập trình di động, Đại học Công nghệ Thông tin TP.HCM, 2023.</a:t>
            </a:r>
          </a:p>
          <a:p>
            <a:pPr algn="l">
              <a:lnSpc>
                <a:spcPts val="4372"/>
              </a:lnSpc>
            </a:pPr>
            <a:r>
              <a:rPr lang="en-US" sz="3554" b="true">
                <a:solidFill>
                  <a:srgbClr val="000000"/>
                </a:solidFill>
                <a:latin typeface="Cakerolli Bold"/>
                <a:ea typeface="Cakerolli Bold"/>
                <a:cs typeface="Cakerolli Bold"/>
                <a:sym typeface="Cakerolli Bold"/>
              </a:rPr>
              <a:t> [10] Trần Văn Quang, Thiết kế giao diện và xử lý dữ liệu trong Android, NXB Thông tin và Truyền thông, 2021.</a:t>
            </a:r>
          </a:p>
          <a:p>
            <a:pPr algn="l">
              <a:lnSpc>
                <a:spcPts val="4372"/>
              </a:lnSpc>
              <a:spcBef>
                <a:spcPct val="0"/>
              </a:spcBef>
            </a:pP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6"/>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7"/>
            <a:stretch>
              <a:fillRect l="0" t="0" r="0" b="0"/>
            </a:stretch>
          </a:blipFill>
        </p:spPr>
      </p:sp>
      <p:sp>
        <p:nvSpPr>
          <p:cNvPr name="Freeform 29" id="29"/>
          <p:cNvSpPr/>
          <p:nvPr/>
        </p:nvSpPr>
        <p:spPr>
          <a:xfrm flipH="false" flipV="false" rot="0">
            <a:off x="13315118" y="1844234"/>
            <a:ext cx="1386381" cy="1665323"/>
          </a:xfrm>
          <a:custGeom>
            <a:avLst/>
            <a:gdLst/>
            <a:ahLst/>
            <a:cxnLst/>
            <a:rect r="r" b="b" t="t" l="l"/>
            <a:pathLst>
              <a:path h="1665323" w="1386381">
                <a:moveTo>
                  <a:pt x="0" y="0"/>
                </a:moveTo>
                <a:lnTo>
                  <a:pt x="1386381" y="0"/>
                </a:lnTo>
                <a:lnTo>
                  <a:pt x="1386381" y="1665323"/>
                </a:lnTo>
                <a:lnTo>
                  <a:pt x="0" y="16653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true" flipV="true" rot="-781863">
            <a:off x="4243798" y="5822822"/>
            <a:ext cx="1386381" cy="1665323"/>
          </a:xfrm>
          <a:custGeom>
            <a:avLst/>
            <a:gdLst/>
            <a:ahLst/>
            <a:cxnLst/>
            <a:rect r="r" b="b" t="t" l="l"/>
            <a:pathLst>
              <a:path h="1665323" w="1386381">
                <a:moveTo>
                  <a:pt x="1386381" y="1665323"/>
                </a:moveTo>
                <a:lnTo>
                  <a:pt x="0" y="1665323"/>
                </a:lnTo>
                <a:lnTo>
                  <a:pt x="0" y="0"/>
                </a:lnTo>
                <a:lnTo>
                  <a:pt x="1386381" y="0"/>
                </a:lnTo>
                <a:lnTo>
                  <a:pt x="1386381" y="166532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1" id="31"/>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6"/>
            <a:stretch>
              <a:fillRect l="0" t="0" r="0" b="0"/>
            </a:stretch>
          </a:blipFill>
        </p:spPr>
      </p:sp>
      <p:sp>
        <p:nvSpPr>
          <p:cNvPr name="Freeform 32" id="32"/>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7"/>
            <a:stretch>
              <a:fillRect l="0" t="0" r="0" b="0"/>
            </a:stretch>
          </a:blipFill>
        </p:spPr>
      </p:sp>
      <p:sp>
        <p:nvSpPr>
          <p:cNvPr name="Freeform 33" id="33"/>
          <p:cNvSpPr/>
          <p:nvPr/>
        </p:nvSpPr>
        <p:spPr>
          <a:xfrm flipH="false" flipV="false" rot="0">
            <a:off x="1863251" y="1735683"/>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4" id="34"/>
          <p:cNvSpPr/>
          <p:nvPr/>
        </p:nvSpPr>
        <p:spPr>
          <a:xfrm flipH="false" flipV="false" rot="-2473926">
            <a:off x="16489660" y="3493500"/>
            <a:ext cx="2325515" cy="598820"/>
          </a:xfrm>
          <a:custGeom>
            <a:avLst/>
            <a:gdLst/>
            <a:ahLst/>
            <a:cxnLst/>
            <a:rect r="r" b="b" t="t" l="l"/>
            <a:pathLst>
              <a:path h="598820" w="2325515">
                <a:moveTo>
                  <a:pt x="0" y="0"/>
                </a:moveTo>
                <a:lnTo>
                  <a:pt x="2325516" y="0"/>
                </a:lnTo>
                <a:lnTo>
                  <a:pt x="2325516" y="598820"/>
                </a:lnTo>
                <a:lnTo>
                  <a:pt x="0" y="5988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false" flipV="false" rot="323603">
            <a:off x="17748301" y="6366626"/>
            <a:ext cx="1132716" cy="2093553"/>
          </a:xfrm>
          <a:custGeom>
            <a:avLst/>
            <a:gdLst/>
            <a:ahLst/>
            <a:cxnLst/>
            <a:rect r="r" b="b" t="t" l="l"/>
            <a:pathLst>
              <a:path h="2093553" w="1132716">
                <a:moveTo>
                  <a:pt x="0" y="0"/>
                </a:moveTo>
                <a:lnTo>
                  <a:pt x="1132716" y="0"/>
                </a:lnTo>
                <a:lnTo>
                  <a:pt x="1132716" y="2093553"/>
                </a:lnTo>
                <a:lnTo>
                  <a:pt x="0" y="2093553"/>
                </a:lnTo>
                <a:lnTo>
                  <a:pt x="0" y="0"/>
                </a:lnTo>
                <a:close/>
              </a:path>
            </a:pathLst>
          </a:custGeom>
          <a:blipFill>
            <a:blip r:embed="rId14">
              <a:extLst>
                <a:ext uri="{96DAC541-7B7A-43D3-8B79-37D633B846F1}">
                  <asvg:svgBlip xmlns:asvg="http://schemas.microsoft.com/office/drawing/2016/SVG/main" r:embed="rId15"/>
                </a:ext>
              </a:extLst>
            </a:blip>
            <a:stretch>
              <a:fillRect l="-130590" t="0" r="0" b="-48746"/>
            </a:stretch>
          </a:blipFill>
        </p:spPr>
      </p:sp>
      <p:sp>
        <p:nvSpPr>
          <p:cNvPr name="Freeform 36" id="36"/>
          <p:cNvSpPr/>
          <p:nvPr/>
        </p:nvSpPr>
        <p:spPr>
          <a:xfrm flipH="true" flipV="false" rot="-873099">
            <a:off x="159879" y="7356461"/>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7" id="37"/>
          <p:cNvSpPr/>
          <p:nvPr/>
        </p:nvSpPr>
        <p:spPr>
          <a:xfrm flipH="false" flipV="false" rot="0">
            <a:off x="9198166" y="2869839"/>
            <a:ext cx="1879173" cy="1855684"/>
          </a:xfrm>
          <a:custGeom>
            <a:avLst/>
            <a:gdLst/>
            <a:ahLst/>
            <a:cxnLst/>
            <a:rect r="r" b="b" t="t" l="l"/>
            <a:pathLst>
              <a:path h="1855684" w="1879173">
                <a:moveTo>
                  <a:pt x="0" y="0"/>
                </a:moveTo>
                <a:lnTo>
                  <a:pt x="1879173" y="0"/>
                </a:lnTo>
                <a:lnTo>
                  <a:pt x="1879173" y="1855684"/>
                </a:lnTo>
                <a:lnTo>
                  <a:pt x="0" y="185568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8" id="38"/>
          <p:cNvSpPr/>
          <p:nvPr/>
        </p:nvSpPr>
        <p:spPr>
          <a:xfrm flipH="false" flipV="false" rot="0">
            <a:off x="7669279" y="2814101"/>
            <a:ext cx="1460434" cy="1695714"/>
          </a:xfrm>
          <a:custGeom>
            <a:avLst/>
            <a:gdLst/>
            <a:ahLst/>
            <a:cxnLst/>
            <a:rect r="r" b="b" t="t" l="l"/>
            <a:pathLst>
              <a:path h="1695714" w="1460434">
                <a:moveTo>
                  <a:pt x="0" y="0"/>
                </a:moveTo>
                <a:lnTo>
                  <a:pt x="1460434" y="0"/>
                </a:lnTo>
                <a:lnTo>
                  <a:pt x="1460434" y="1695714"/>
                </a:lnTo>
                <a:lnTo>
                  <a:pt x="0" y="169571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39" id="39"/>
          <p:cNvSpPr/>
          <p:nvPr/>
        </p:nvSpPr>
        <p:spPr>
          <a:xfrm flipH="false" flipV="false" rot="-216343">
            <a:off x="11125119" y="3048974"/>
            <a:ext cx="1951719" cy="1580893"/>
          </a:xfrm>
          <a:custGeom>
            <a:avLst/>
            <a:gdLst/>
            <a:ahLst/>
            <a:cxnLst/>
            <a:rect r="r" b="b" t="t" l="l"/>
            <a:pathLst>
              <a:path h="1580893" w="1951719">
                <a:moveTo>
                  <a:pt x="0" y="0"/>
                </a:moveTo>
                <a:lnTo>
                  <a:pt x="1951719" y="0"/>
                </a:lnTo>
                <a:lnTo>
                  <a:pt x="1951719" y="1580893"/>
                </a:lnTo>
                <a:lnTo>
                  <a:pt x="0" y="1580893"/>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40" id="40"/>
          <p:cNvSpPr/>
          <p:nvPr/>
        </p:nvSpPr>
        <p:spPr>
          <a:xfrm flipH="false" flipV="false" rot="0">
            <a:off x="4879052" y="2676896"/>
            <a:ext cx="1348846" cy="2107571"/>
          </a:xfrm>
          <a:custGeom>
            <a:avLst/>
            <a:gdLst/>
            <a:ahLst/>
            <a:cxnLst/>
            <a:rect r="r" b="b" t="t" l="l"/>
            <a:pathLst>
              <a:path h="2107571" w="1348846">
                <a:moveTo>
                  <a:pt x="0" y="0"/>
                </a:moveTo>
                <a:lnTo>
                  <a:pt x="1348846" y="0"/>
                </a:lnTo>
                <a:lnTo>
                  <a:pt x="1348846" y="2107571"/>
                </a:lnTo>
                <a:lnTo>
                  <a:pt x="0" y="2107571"/>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41" id="41"/>
          <p:cNvSpPr/>
          <p:nvPr/>
        </p:nvSpPr>
        <p:spPr>
          <a:xfrm flipH="false" flipV="false" rot="0">
            <a:off x="6332673" y="2894374"/>
            <a:ext cx="1150594" cy="1890093"/>
          </a:xfrm>
          <a:custGeom>
            <a:avLst/>
            <a:gdLst/>
            <a:ahLst/>
            <a:cxnLst/>
            <a:rect r="r" b="b" t="t" l="l"/>
            <a:pathLst>
              <a:path h="1890093" w="1150594">
                <a:moveTo>
                  <a:pt x="0" y="0"/>
                </a:moveTo>
                <a:lnTo>
                  <a:pt x="1150594" y="0"/>
                </a:lnTo>
                <a:lnTo>
                  <a:pt x="1150594" y="1890093"/>
                </a:lnTo>
                <a:lnTo>
                  <a:pt x="0" y="1890093"/>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42" id="42"/>
          <p:cNvSpPr/>
          <p:nvPr/>
        </p:nvSpPr>
        <p:spPr>
          <a:xfrm flipH="false" flipV="false" rot="0">
            <a:off x="6695600" y="5499336"/>
            <a:ext cx="1561815" cy="2335425"/>
          </a:xfrm>
          <a:custGeom>
            <a:avLst/>
            <a:gdLst/>
            <a:ahLst/>
            <a:cxnLst/>
            <a:rect r="r" b="b" t="t" l="l"/>
            <a:pathLst>
              <a:path h="2335425" w="1561815">
                <a:moveTo>
                  <a:pt x="0" y="0"/>
                </a:moveTo>
                <a:lnTo>
                  <a:pt x="1561815" y="0"/>
                </a:lnTo>
                <a:lnTo>
                  <a:pt x="1561815" y="2335425"/>
                </a:lnTo>
                <a:lnTo>
                  <a:pt x="0" y="2335425"/>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43" id="43"/>
          <p:cNvSpPr/>
          <p:nvPr/>
        </p:nvSpPr>
        <p:spPr>
          <a:xfrm flipH="false" flipV="false" rot="0">
            <a:off x="10020898" y="5558448"/>
            <a:ext cx="1542927" cy="1984472"/>
          </a:xfrm>
          <a:custGeom>
            <a:avLst/>
            <a:gdLst/>
            <a:ahLst/>
            <a:cxnLst/>
            <a:rect r="r" b="b" t="t" l="l"/>
            <a:pathLst>
              <a:path h="1984472" w="1542927">
                <a:moveTo>
                  <a:pt x="0" y="0"/>
                </a:moveTo>
                <a:lnTo>
                  <a:pt x="1542927" y="0"/>
                </a:lnTo>
                <a:lnTo>
                  <a:pt x="1542927" y="1984472"/>
                </a:lnTo>
                <a:lnTo>
                  <a:pt x="0" y="1984472"/>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44" id="44"/>
          <p:cNvSpPr/>
          <p:nvPr/>
        </p:nvSpPr>
        <p:spPr>
          <a:xfrm flipH="false" flipV="false" rot="0">
            <a:off x="8269993" y="5687965"/>
            <a:ext cx="1750905" cy="1725438"/>
          </a:xfrm>
          <a:custGeom>
            <a:avLst/>
            <a:gdLst/>
            <a:ahLst/>
            <a:cxnLst/>
            <a:rect r="r" b="b" t="t" l="l"/>
            <a:pathLst>
              <a:path h="1725438" w="1750905">
                <a:moveTo>
                  <a:pt x="0" y="0"/>
                </a:moveTo>
                <a:lnTo>
                  <a:pt x="1750905" y="0"/>
                </a:lnTo>
                <a:lnTo>
                  <a:pt x="1750905" y="1725438"/>
                </a:lnTo>
                <a:lnTo>
                  <a:pt x="0" y="1725438"/>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DAGWd8VVDOM</dc:identifier>
  <dcterms:modified xsi:type="dcterms:W3CDTF">2011-08-01T06:04:30Z</dcterms:modified>
  <cp:revision>1</cp:revision>
  <dc:title>Cream Blue Creative Modern Digital Marketing Presentation</dc:title>
</cp:coreProperties>
</file>